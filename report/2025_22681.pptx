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419" r:id="rId3"/>
    <p:sldId id="432" r:id="rId4"/>
    <p:sldId id="431" r:id="rId5"/>
    <p:sldId id="438" r:id="rId6"/>
    <p:sldId id="433" r:id="rId7"/>
    <p:sldId id="434" r:id="rId8"/>
    <p:sldId id="437" r:id="rId9"/>
    <p:sldId id="450" r:id="rId10"/>
    <p:sldId id="444" r:id="rId11"/>
    <p:sldId id="449" r:id="rId12"/>
    <p:sldId id="443" r:id="rId13"/>
    <p:sldId id="446" r:id="rId14"/>
    <p:sldId id="447" r:id="rId15"/>
    <p:sldId id="445" r:id="rId16"/>
    <p:sldId id="448" r:id="rId17"/>
    <p:sldId id="429" r:id="rId18"/>
    <p:sldId id="439" r:id="rId19"/>
    <p:sldId id="440" r:id="rId20"/>
    <p:sldId id="441" r:id="rId21"/>
    <p:sldId id="451" r:id="rId2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AD8"/>
    <a:srgbClr val="FF80F6"/>
    <a:srgbClr val="F47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28" autoAdjust="0"/>
    <p:restoredTop sz="85960" autoAdjust="0"/>
  </p:normalViewPr>
  <p:slideViewPr>
    <p:cSldViewPr snapToGrid="0">
      <p:cViewPr>
        <p:scale>
          <a:sx n="66" d="100"/>
          <a:sy n="66" d="100"/>
        </p:scale>
        <p:origin x="1008" y="8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A4506-BD03-2D4D-ACE1-D128ADC6B79C}" type="datetimeFigureOut">
              <a:rPr kumimoji="1" lang="ko-Kore-KR" altLang="en-US" smtClean="0"/>
              <a:t>12/14/2025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37FC7-C0DE-2848-BA2F-A4E9BDE547F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286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안녕하십니까</a:t>
            </a:r>
            <a:r>
              <a:rPr lang="en-US" altLang="ko-KR" dirty="0"/>
              <a:t>. </a:t>
            </a:r>
            <a:r>
              <a:rPr lang="ko-KR" altLang="en-US" dirty="0"/>
              <a:t>데이터사이언스학과 석사과정 김민수입니다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병렬 </a:t>
            </a:r>
            <a:r>
              <a:rPr lang="en-US" altLang="ko-KR" dirty="0"/>
              <a:t>K-Means </a:t>
            </a:r>
            <a:r>
              <a:rPr lang="ko-KR" altLang="en-US" dirty="0"/>
              <a:t>클러스터링 최적화에 대해 발표 시작하겠습니다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34998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K-Means</a:t>
            </a:r>
            <a:r>
              <a:rPr lang="ko-KR" altLang="en-US" dirty="0"/>
              <a:t>는 대표적인 </a:t>
            </a:r>
            <a:r>
              <a:rPr lang="en-US" altLang="ko-KR" dirty="0"/>
              <a:t>clustering</a:t>
            </a:r>
            <a:r>
              <a:rPr lang="ko-KR" altLang="en-US" dirty="0"/>
              <a:t> 알고리즘으로</a:t>
            </a:r>
            <a:r>
              <a:rPr lang="en-US" altLang="ko-KR" dirty="0"/>
              <a:t>, </a:t>
            </a:r>
            <a:r>
              <a:rPr lang="ko-KR" altLang="en-US" dirty="0"/>
              <a:t>각 데이터 포인트를 가장 가까운 중심점에 할당하고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중심점을 재계산하는 반복적 최적화 과정을 거칩니다</a:t>
            </a:r>
            <a:r>
              <a:rPr lang="en-US" altLang="ko-KR" dirty="0"/>
              <a:t>. </a:t>
            </a:r>
          </a:p>
          <a:p>
            <a:r>
              <a:rPr lang="en-US" altLang="ko-KR" b="1" dirty="0"/>
              <a:t>K-Means</a:t>
            </a:r>
            <a:r>
              <a:rPr lang="ko-KR" altLang="en-US" b="1" dirty="0"/>
              <a:t>는 거리 계산이</a:t>
            </a:r>
            <a:r>
              <a:rPr lang="ko-KR" altLang="en-US" dirty="0"/>
              <a:t> 대부분을 차지하는데</a:t>
            </a:r>
            <a:r>
              <a:rPr lang="en-US" altLang="ko-KR" dirty="0"/>
              <a:t>, </a:t>
            </a:r>
            <a:r>
              <a:rPr lang="ko-KR" altLang="en-US" dirty="0"/>
              <a:t>이는 병렬화에 매우 적합한 특성을 가지고 있습니다</a:t>
            </a:r>
            <a:r>
              <a:rPr lang="en-US" altLang="ko-KR" dirty="0"/>
              <a:t>. 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34588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평가를 위해 </a:t>
            </a:r>
            <a:r>
              <a:rPr lang="en-US" altLang="ko-KR" dirty="0" err="1"/>
              <a:t>make_blobs</a:t>
            </a:r>
            <a:r>
              <a:rPr lang="en-US" altLang="ko-KR" dirty="0"/>
              <a:t> </a:t>
            </a:r>
            <a:r>
              <a:rPr lang="ko-KR" altLang="en-US" dirty="0"/>
              <a:t>기반으로 다음과 같은 기준으로 데이터를 생성하여 평가에 활용하였습니다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04088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BaseLine</a:t>
            </a:r>
            <a:r>
              <a:rPr lang="ko-KR" altLang="en-US" dirty="0"/>
              <a:t>으로는 잘 알려져있는 </a:t>
            </a:r>
            <a:r>
              <a:rPr lang="en-US" altLang="ko-KR" dirty="0" err="1"/>
              <a:t>sklearn</a:t>
            </a:r>
            <a:r>
              <a:rPr lang="ko-KR" altLang="en-US" dirty="0"/>
              <a:t>과 </a:t>
            </a:r>
            <a:r>
              <a:rPr lang="en-US" altLang="ko-KR" dirty="0" err="1"/>
              <a:t>cuML</a:t>
            </a:r>
            <a:r>
              <a:rPr lang="ko-KR" altLang="en-US" dirty="0"/>
              <a:t>을 기준으로 삼았습니다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가장 느린 </a:t>
            </a:r>
            <a:r>
              <a:rPr lang="en-US" altLang="ko-KR" dirty="0" err="1"/>
              <a:t>Sklearn</a:t>
            </a:r>
            <a:r>
              <a:rPr lang="ko-KR" altLang="en-US" dirty="0"/>
              <a:t>을 기준으로 시작하여 개선을 거쳐 </a:t>
            </a:r>
            <a:r>
              <a:rPr lang="en-US" altLang="ko-KR" dirty="0" err="1"/>
              <a:t>cuML</a:t>
            </a:r>
            <a:r>
              <a:rPr lang="ko-KR" altLang="en-US" dirty="0"/>
              <a:t>의 성능을 달성하기 위해 여러 방법론들을 적용하고자 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1722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 </a:t>
            </a:r>
            <a:r>
              <a:rPr lang="en-US" altLang="ko-KR" dirty="0"/>
              <a:t>naïve </a:t>
            </a:r>
            <a:r>
              <a:rPr lang="ko-KR" altLang="en-US" dirty="0"/>
              <a:t>버전의 </a:t>
            </a:r>
            <a:r>
              <a:rPr lang="en-US" altLang="ko-KR" dirty="0" err="1"/>
              <a:t>Kmeans</a:t>
            </a:r>
            <a:r>
              <a:rPr lang="ko-KR" altLang="en-US" dirty="0"/>
              <a:t>를 </a:t>
            </a:r>
            <a:r>
              <a:rPr lang="en-US" altLang="ko-KR" dirty="0" err="1"/>
              <a:t>cuda</a:t>
            </a:r>
            <a:r>
              <a:rPr lang="ko-KR" altLang="en-US" dirty="0"/>
              <a:t>로 짯고</a:t>
            </a:r>
            <a:endParaRPr lang="en-US" altLang="ko-KR" dirty="0"/>
          </a:p>
          <a:p>
            <a:r>
              <a:rPr lang="en-US" altLang="ko-KR" dirty="0"/>
              <a:t>Host</a:t>
            </a:r>
            <a:r>
              <a:rPr lang="ko-KR" altLang="en-US" dirty="0"/>
              <a:t>에서 다음 그림과 같이 각 </a:t>
            </a:r>
            <a:r>
              <a:rPr lang="en-US" altLang="ko-KR" dirty="0"/>
              <a:t>iteration</a:t>
            </a:r>
            <a:r>
              <a:rPr lang="ko-KR" altLang="en-US" dirty="0"/>
              <a:t>마다 </a:t>
            </a:r>
            <a:endParaRPr lang="en-US" altLang="ko-KR" dirty="0"/>
          </a:p>
          <a:p>
            <a:r>
              <a:rPr lang="en-US" altLang="ko-KR" dirty="0"/>
              <a:t>assign, compute, average kernel</a:t>
            </a:r>
            <a:r>
              <a:rPr lang="ko-KR" altLang="en-US" dirty="0"/>
              <a:t>을 한번씩 반복적으로 호출하도록 구현했습니다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56873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 최적화를 하기 위해 수업시간에 배운 </a:t>
            </a:r>
            <a:r>
              <a:rPr lang="en-US" altLang="ko-KR" dirty="0"/>
              <a:t>Shared Memory</a:t>
            </a:r>
            <a:r>
              <a:rPr lang="ko-KR" altLang="en-US" dirty="0"/>
              <a:t>와 </a:t>
            </a:r>
            <a:r>
              <a:rPr lang="en-US" altLang="ko-KR" dirty="0"/>
              <a:t>Constant memory</a:t>
            </a:r>
            <a:r>
              <a:rPr lang="ko-KR" altLang="en-US" dirty="0"/>
              <a:t>을 사용해 효율적인 메모리 접근에 집중했고</a:t>
            </a:r>
            <a:endParaRPr lang="en-US" altLang="ko-KR" dirty="0"/>
          </a:p>
          <a:p>
            <a:r>
              <a:rPr lang="ko-KR" altLang="en-US" dirty="0"/>
              <a:t>여기에 추가로 </a:t>
            </a:r>
            <a:r>
              <a:rPr lang="en-US" altLang="ko-KR" dirty="0"/>
              <a:t>CSR</a:t>
            </a:r>
            <a:r>
              <a:rPr lang="ko-KR" altLang="en-US" dirty="0"/>
              <a:t>과 같은 </a:t>
            </a:r>
            <a:r>
              <a:rPr lang="en-US" altLang="ko-KR" dirty="0"/>
              <a:t>Sparse</a:t>
            </a:r>
            <a:r>
              <a:rPr lang="ko-KR" altLang="en-US" dirty="0"/>
              <a:t> </a:t>
            </a:r>
            <a:r>
              <a:rPr lang="en-US" altLang="ko-KR" dirty="0"/>
              <a:t>Matrix</a:t>
            </a:r>
            <a:r>
              <a:rPr lang="ko-KR" altLang="en-US" dirty="0"/>
              <a:t> 압축을 활용 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87991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구체적으로는 먼저 </a:t>
            </a:r>
            <a:endParaRPr lang="en-US" altLang="ko-KR" dirty="0"/>
          </a:p>
          <a:p>
            <a:r>
              <a:rPr lang="en-US" altLang="ko-KR" dirty="0"/>
              <a:t>Assignment step</a:t>
            </a:r>
            <a:r>
              <a:rPr lang="ko-KR" altLang="en-US" dirty="0"/>
              <a:t>에서는 </a:t>
            </a:r>
            <a:r>
              <a:rPr lang="en-US" altLang="ko-KR" dirty="0"/>
              <a:t>Centroid</a:t>
            </a:r>
            <a:r>
              <a:rPr lang="ko-KR" altLang="en-US" dirty="0"/>
              <a:t>와 각 포인트간의 거리를 계산하게 되는데 </a:t>
            </a:r>
            <a:endParaRPr lang="en-US" altLang="ko-KR" dirty="0"/>
          </a:p>
          <a:p>
            <a:r>
              <a:rPr lang="ko-KR" altLang="en-US" dirty="0"/>
              <a:t>이때 </a:t>
            </a:r>
            <a:r>
              <a:rPr lang="en-US" altLang="ko-KR" dirty="0"/>
              <a:t>Centroid</a:t>
            </a:r>
            <a:r>
              <a:rPr lang="ko-KR" altLang="en-US" dirty="0"/>
              <a:t>들은 </a:t>
            </a:r>
            <a:r>
              <a:rPr lang="en-US" altLang="ko-KR" dirty="0"/>
              <a:t>Read only</a:t>
            </a:r>
            <a:r>
              <a:rPr lang="ko-KR" altLang="en-US" dirty="0"/>
              <a:t>이기 때문에 </a:t>
            </a:r>
            <a:r>
              <a:rPr lang="en-US" altLang="ko-KR" dirty="0"/>
              <a:t>constant </a:t>
            </a:r>
            <a:r>
              <a:rPr lang="ko-KR" altLang="en-US" dirty="0"/>
              <a:t>영역에 할당하여 속도를 높였습니다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두번째로는 각 </a:t>
            </a:r>
            <a:r>
              <a:rPr lang="en-US" altLang="ko-KR" dirty="0"/>
              <a:t>point</a:t>
            </a:r>
            <a:r>
              <a:rPr lang="ko-KR" altLang="en-US" dirty="0"/>
              <a:t>가 속하는 </a:t>
            </a:r>
            <a:r>
              <a:rPr lang="en-US" altLang="ko-KR" dirty="0"/>
              <a:t>cluster </a:t>
            </a:r>
            <a:r>
              <a:rPr lang="ko-KR" altLang="en-US" dirty="0"/>
              <a:t>정보를 계산할떄 </a:t>
            </a:r>
            <a:endParaRPr lang="en-US" altLang="ko-KR" dirty="0"/>
          </a:p>
          <a:p>
            <a:r>
              <a:rPr lang="ko-KR" altLang="en-US" dirty="0"/>
              <a:t>모든 </a:t>
            </a:r>
            <a:r>
              <a:rPr lang="en-US" altLang="ko-KR" dirty="0"/>
              <a:t>block</a:t>
            </a:r>
            <a:r>
              <a:rPr lang="ko-KR" altLang="en-US" dirty="0"/>
              <a:t>이 </a:t>
            </a:r>
            <a:r>
              <a:rPr lang="en-US" altLang="ko-KR" dirty="0"/>
              <a:t>global </a:t>
            </a:r>
            <a:r>
              <a:rPr lang="ko-KR" altLang="en-US" dirty="0"/>
              <a:t>메모리에 매번 저장하려고하면 </a:t>
            </a:r>
            <a:r>
              <a:rPr lang="en-US" altLang="ko-KR" dirty="0"/>
              <a:t>contention</a:t>
            </a:r>
            <a:r>
              <a:rPr lang="ko-KR" altLang="en-US" dirty="0"/>
              <a:t>이 심해지기 때문에 </a:t>
            </a:r>
            <a:endParaRPr lang="en-US" altLang="ko-KR" dirty="0"/>
          </a:p>
          <a:p>
            <a:r>
              <a:rPr lang="ko-KR" altLang="en-US" dirty="0"/>
              <a:t>각각의 </a:t>
            </a:r>
            <a:r>
              <a:rPr lang="en-US" altLang="ko-KR" dirty="0"/>
              <a:t>shared </a:t>
            </a:r>
            <a:r>
              <a:rPr lang="ko-KR" altLang="en-US" dirty="0"/>
              <a:t>메모리에 값들을 저장하고 마지막에 한번만 업데이트 하도록 변경해서</a:t>
            </a:r>
            <a:r>
              <a:rPr lang="en-US" altLang="ko-KR" dirty="0"/>
              <a:t> contention</a:t>
            </a:r>
            <a:r>
              <a:rPr lang="ko-KR" altLang="en-US" dirty="0"/>
              <a:t>을 줄여줬습니다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35586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</a:t>
            </a:r>
            <a:r>
              <a:rPr lang="en-US" altLang="ko-KR" dirty="0"/>
              <a:t>Thread</a:t>
            </a:r>
            <a:r>
              <a:rPr lang="ko-KR" altLang="en-US" dirty="0"/>
              <a:t>는 각각의 포인트  </a:t>
            </a:r>
            <a:r>
              <a:rPr lang="en-US" altLang="ko-KR" dirty="0"/>
              <a:t>feature</a:t>
            </a:r>
            <a:r>
              <a:rPr lang="ko-KR" altLang="en-US" dirty="0"/>
              <a:t>을 순차적으로 읽으며 거리 계산을 하게 되는데 </a:t>
            </a:r>
            <a:endParaRPr lang="en-US" altLang="ko-KR" dirty="0"/>
          </a:p>
          <a:p>
            <a:r>
              <a:rPr lang="en-US" altLang="ko-KR" dirty="0" err="1"/>
              <a:t>AoS</a:t>
            </a:r>
            <a:r>
              <a:rPr lang="en-US" altLang="ko-KR" dirty="0"/>
              <a:t> </a:t>
            </a:r>
            <a:r>
              <a:rPr lang="ko-KR" altLang="en-US" dirty="0"/>
              <a:t>방식으로하면 아래 그림과 같이 띄엄띄엄 읽게됩니다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쓰레드들이 동시에 연속된 메모리 주소를 요청하도록 </a:t>
            </a:r>
            <a:r>
              <a:rPr lang="en-US" altLang="ko-KR" dirty="0" err="1"/>
              <a:t>SoA</a:t>
            </a:r>
            <a:r>
              <a:rPr lang="en-US" altLang="ko-KR" dirty="0"/>
              <a:t> </a:t>
            </a:r>
            <a:r>
              <a:rPr lang="ko-KR" altLang="en-US" dirty="0"/>
              <a:t>방식으로 </a:t>
            </a:r>
            <a:r>
              <a:rPr lang="en-US" altLang="ko-KR" dirty="0"/>
              <a:t>data </a:t>
            </a:r>
            <a:r>
              <a:rPr lang="ko-KR" altLang="en-US" dirty="0"/>
              <a:t>저장방식을 변경했습니다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56523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ko-KR" altLang="en-US" dirty="0"/>
              <a:t>여기까지 적용을 하게 되면 </a:t>
            </a:r>
            <a:r>
              <a:rPr lang="en-US" altLang="ko-KR" dirty="0"/>
              <a:t>assign </a:t>
            </a:r>
            <a:r>
              <a:rPr lang="ko-KR" altLang="en-US" dirty="0"/>
              <a:t>커널</a:t>
            </a:r>
            <a:r>
              <a:rPr lang="en-US" altLang="ko-KR" dirty="0"/>
              <a:t>(</a:t>
            </a:r>
            <a:r>
              <a:rPr lang="en-US" altLang="ko-KR" dirty="0" err="1"/>
              <a:t>Constant+SoA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191 </a:t>
            </a:r>
            <a:r>
              <a:rPr lang="en-US" altLang="ko-KR" dirty="0" err="1"/>
              <a:t>ms</a:t>
            </a:r>
            <a:r>
              <a:rPr lang="ko-KR" altLang="en-US" dirty="0"/>
              <a:t>에서 </a:t>
            </a:r>
            <a:r>
              <a:rPr lang="en-US" altLang="ko-KR" dirty="0"/>
              <a:t>45ms</a:t>
            </a:r>
            <a:r>
              <a:rPr lang="ko-KR" altLang="en-US" dirty="0"/>
              <a:t>로</a:t>
            </a:r>
            <a:endParaRPr lang="en-US" altLang="ko-KR" dirty="0"/>
          </a:p>
          <a:p>
            <a:pPr lvl="1"/>
            <a:r>
              <a:rPr lang="en-US" altLang="ko-KR" dirty="0"/>
              <a:t>Compute</a:t>
            </a:r>
            <a:r>
              <a:rPr lang="ko-KR" altLang="en-US" dirty="0"/>
              <a:t>에서</a:t>
            </a:r>
            <a:r>
              <a:rPr lang="en-US" altLang="ko-KR" dirty="0"/>
              <a:t>(Shared memory</a:t>
            </a:r>
            <a:r>
              <a:rPr lang="ko-KR" altLang="en-US" dirty="0"/>
              <a:t>효과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323ms</a:t>
            </a:r>
            <a:r>
              <a:rPr lang="ko-KR" altLang="en-US" dirty="0"/>
              <a:t>에서 </a:t>
            </a:r>
            <a:r>
              <a:rPr lang="en-US" altLang="ko-KR" dirty="0"/>
              <a:t>17ms</a:t>
            </a:r>
            <a:r>
              <a:rPr lang="ko-KR" altLang="en-US" dirty="0"/>
              <a:t>로 줄어들게 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여기까지가 </a:t>
            </a:r>
            <a:r>
              <a:rPr lang="en-US" altLang="ko-KR" dirty="0"/>
              <a:t>1</a:t>
            </a:r>
            <a:r>
              <a:rPr lang="ko-KR" altLang="en-US" dirty="0"/>
              <a:t>차적인 적용이었고 여기에 더해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13448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Sparse</a:t>
            </a:r>
            <a:r>
              <a:rPr lang="ko-KR" altLang="en-US" dirty="0"/>
              <a:t>한 경우 </a:t>
            </a:r>
            <a:r>
              <a:rPr lang="en-US" altLang="ko-KR" dirty="0"/>
              <a:t>CSR</a:t>
            </a:r>
            <a:r>
              <a:rPr lang="ko-KR" altLang="en-US" dirty="0"/>
              <a:t>을 적용하도록 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거리 계산식을 풀어보게 되면 다음과 같은 </a:t>
            </a:r>
            <a:r>
              <a:rPr lang="en-US" altLang="ko-KR" dirty="0"/>
              <a:t>3</a:t>
            </a:r>
            <a:r>
              <a:rPr lang="ko-KR" altLang="en-US" dirty="0"/>
              <a:t>항으로 나누어 생각할 수 있는데 </a:t>
            </a:r>
            <a:endParaRPr lang="en-US" altLang="ko-KR" dirty="0"/>
          </a:p>
          <a:p>
            <a:r>
              <a:rPr lang="ko-KR" altLang="en-US" dirty="0"/>
              <a:t>첫번쨰 항과 두번째 항은 재활용이 가능한 값이고 </a:t>
            </a:r>
            <a:r>
              <a:rPr lang="en-US" altLang="ko-KR" dirty="0"/>
              <a:t>3</a:t>
            </a:r>
            <a:r>
              <a:rPr lang="ko-KR" altLang="en-US" dirty="0"/>
              <a:t>번쨰 항의 경우 </a:t>
            </a:r>
            <a:r>
              <a:rPr lang="en-US" altLang="ko-KR" dirty="0"/>
              <a:t>0</a:t>
            </a:r>
            <a:r>
              <a:rPr lang="ko-KR" altLang="en-US" dirty="0"/>
              <a:t>이면 계산할 필요가 없어서 연산 수를 상당히 줄일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 </a:t>
            </a:r>
            <a:r>
              <a:rPr lang="en-US" altLang="ko-KR" dirty="0"/>
              <a:t>Dense</a:t>
            </a:r>
            <a:r>
              <a:rPr lang="ko-KR" altLang="en-US" dirty="0"/>
              <a:t>하면 오히려 느려져서 </a:t>
            </a:r>
            <a:endParaRPr lang="en-US" altLang="ko-KR" dirty="0"/>
          </a:p>
          <a:p>
            <a:r>
              <a:rPr lang="en-US" altLang="ko-KR" dirty="0"/>
              <a:t>data</a:t>
            </a:r>
            <a:r>
              <a:rPr lang="ko-KR" altLang="en-US" dirty="0"/>
              <a:t>가 </a:t>
            </a:r>
            <a:r>
              <a:rPr lang="en-US" altLang="ko-KR" dirty="0"/>
              <a:t>sparse</a:t>
            </a:r>
            <a:r>
              <a:rPr lang="ko-KR" altLang="en-US" dirty="0"/>
              <a:t>한지 아닌지 판단하는 코드를 추가하고 </a:t>
            </a:r>
            <a:r>
              <a:rPr lang="en-US" altLang="ko-KR" dirty="0"/>
              <a:t>sparse</a:t>
            </a:r>
            <a:r>
              <a:rPr lang="ko-KR" altLang="en-US" dirty="0"/>
              <a:t>인 경우만 별도의 연산을 하도록 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46823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이걸 적용하면 </a:t>
            </a:r>
            <a:r>
              <a:rPr lang="en-US" altLang="ko-KR" dirty="0" err="1"/>
              <a:t>assignClusterKernel</a:t>
            </a:r>
            <a:r>
              <a:rPr lang="ko-KR" altLang="en-US" dirty="0"/>
              <a:t>은 </a:t>
            </a:r>
            <a:r>
              <a:rPr lang="en-US" altLang="ko-KR" dirty="0"/>
              <a:t>45ms</a:t>
            </a:r>
            <a:r>
              <a:rPr lang="ko-KR" altLang="en-US" dirty="0"/>
              <a:t>에서 </a:t>
            </a:r>
            <a:r>
              <a:rPr lang="en-US" altLang="ko-KR" dirty="0"/>
              <a:t>21ms</a:t>
            </a:r>
            <a:r>
              <a:rPr lang="ko-KR" altLang="en-US" dirty="0"/>
              <a:t>로 줄어들게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629396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ko-KR" dirty="0" err="1"/>
              <a:t>Sklearn</a:t>
            </a:r>
            <a:r>
              <a:rPr lang="en-US" altLang="ko-KR" dirty="0"/>
              <a:t>, </a:t>
            </a:r>
            <a:r>
              <a:rPr lang="ko-KR" altLang="en-US" dirty="0"/>
              <a:t>나이브 </a:t>
            </a:r>
            <a:r>
              <a:rPr lang="en-US" altLang="ko-KR" dirty="0" err="1"/>
              <a:t>cuda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  <a:r>
              <a:rPr lang="en-US" altLang="ko-KR" dirty="0"/>
              <a:t>, </a:t>
            </a:r>
            <a:r>
              <a:rPr lang="en-US" altLang="ko-KR" dirty="0" err="1"/>
              <a:t>SoA</a:t>
            </a:r>
            <a:r>
              <a:rPr lang="en-US" altLang="ko-KR" dirty="0"/>
              <a:t> </a:t>
            </a:r>
            <a:r>
              <a:rPr lang="ko-KR" altLang="en-US" dirty="0"/>
              <a:t>적용</a:t>
            </a:r>
            <a:r>
              <a:rPr lang="en-US" altLang="ko-KR" dirty="0"/>
              <a:t>, CSR </a:t>
            </a:r>
            <a:r>
              <a:rPr lang="ko-KR" altLang="en-US" dirty="0"/>
              <a:t>적용</a:t>
            </a:r>
            <a:r>
              <a:rPr lang="en-US" altLang="ko-KR" dirty="0"/>
              <a:t>, </a:t>
            </a:r>
            <a:r>
              <a:rPr lang="en-US" altLang="ko-KR" dirty="0" err="1"/>
              <a:t>cuML</a:t>
            </a:r>
            <a:r>
              <a:rPr lang="ko-KR" altLang="en-US" dirty="0"/>
              <a:t>순으로 성능을 기록한 그래프인데요</a:t>
            </a:r>
            <a:endParaRPr lang="en-US" altLang="ko-KR" dirty="0"/>
          </a:p>
          <a:p>
            <a:pPr lvl="1"/>
            <a:r>
              <a:rPr lang="ko-KR" altLang="en-US" dirty="0"/>
              <a:t>빨간색으로 표시된 막대가 </a:t>
            </a:r>
            <a:r>
              <a:rPr lang="en-US" altLang="ko-KR" dirty="0"/>
              <a:t>CSR Format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다른 케이스 대비 연산시간이 상당히 짧은 것을 알수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006140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평균적으로 </a:t>
            </a:r>
            <a:r>
              <a:rPr lang="en-US" altLang="ko-KR" dirty="0"/>
              <a:t>CSR Format</a:t>
            </a:r>
            <a:r>
              <a:rPr lang="ko-KR" altLang="en-US" dirty="0"/>
              <a:t>은 </a:t>
            </a:r>
            <a:r>
              <a:rPr lang="en-US" altLang="ko-KR" dirty="0"/>
              <a:t>462ms</a:t>
            </a:r>
            <a:r>
              <a:rPr lang="ko-KR" altLang="en-US" dirty="0"/>
              <a:t>가 소요되어 </a:t>
            </a:r>
            <a:r>
              <a:rPr lang="en-US" altLang="ko-KR" dirty="0" err="1"/>
              <a:t>cpu</a:t>
            </a:r>
            <a:r>
              <a:rPr lang="ko-KR" altLang="en-US" dirty="0"/>
              <a:t>대비 </a:t>
            </a:r>
            <a:r>
              <a:rPr lang="en-US" altLang="ko-KR" dirty="0"/>
              <a:t>53</a:t>
            </a:r>
            <a:r>
              <a:rPr lang="ko-KR" altLang="en-US" dirty="0"/>
              <a:t>배 </a:t>
            </a:r>
            <a:r>
              <a:rPr lang="en-US" altLang="ko-KR" dirty="0" err="1"/>
              <a:t>cuML</a:t>
            </a:r>
            <a:r>
              <a:rPr lang="ko-KR" altLang="en-US" dirty="0"/>
              <a:t>대비 </a:t>
            </a:r>
            <a:r>
              <a:rPr lang="en-US" altLang="ko-KR" dirty="0"/>
              <a:t>2</a:t>
            </a:r>
            <a:r>
              <a:rPr lang="ko-KR" altLang="en-US" dirty="0"/>
              <a:t>배 빠른 성능을 달성했습니다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90686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다만 </a:t>
            </a:r>
            <a:r>
              <a:rPr lang="en-US" altLang="ko-KR" dirty="0"/>
              <a:t>CSR</a:t>
            </a:r>
            <a:r>
              <a:rPr lang="ko-KR" altLang="en-US" dirty="0"/>
              <a:t>의 경우 </a:t>
            </a:r>
            <a:r>
              <a:rPr lang="en-US" altLang="ko-KR" dirty="0"/>
              <a:t>Sparsity </a:t>
            </a:r>
            <a:r>
              <a:rPr lang="ko-KR" altLang="en-US" dirty="0"/>
              <a:t>분석 시간과 </a:t>
            </a:r>
            <a:r>
              <a:rPr lang="en-US" altLang="ko-KR" dirty="0"/>
              <a:t>Conversion </a:t>
            </a:r>
            <a:r>
              <a:rPr lang="ko-KR" altLang="en-US" dirty="0"/>
              <a:t>시간이 </a:t>
            </a:r>
            <a:r>
              <a:rPr lang="en-US" altLang="ko-KR" dirty="0"/>
              <a:t>Execution Time</a:t>
            </a:r>
            <a:r>
              <a:rPr lang="ko-KR" altLang="en-US" dirty="0"/>
              <a:t>외에 추가로 필요한데요</a:t>
            </a:r>
            <a:endParaRPr lang="en-US" altLang="ko-KR" dirty="0"/>
          </a:p>
          <a:p>
            <a:r>
              <a:rPr lang="ko-KR" altLang="en-US" dirty="0"/>
              <a:t>단순히 분석과</a:t>
            </a:r>
            <a:r>
              <a:rPr lang="en-US" altLang="ko-KR" dirty="0"/>
              <a:t>, execution</a:t>
            </a:r>
            <a:r>
              <a:rPr lang="ko-KR" altLang="en-US" dirty="0"/>
              <a:t>만 한다고 가정하면 여전히 </a:t>
            </a:r>
            <a:r>
              <a:rPr lang="en-US" altLang="ko-KR" dirty="0" err="1"/>
              <a:t>cuML</a:t>
            </a:r>
            <a:r>
              <a:rPr lang="ko-KR" altLang="en-US" dirty="0"/>
              <a:t>대비 빠르지만 </a:t>
            </a:r>
            <a:endParaRPr lang="en-US" altLang="ko-KR" dirty="0"/>
          </a:p>
          <a:p>
            <a:r>
              <a:rPr lang="en-US" altLang="ko-KR" dirty="0"/>
              <a:t>CSR Conversion Time</a:t>
            </a:r>
            <a:r>
              <a:rPr lang="ko-KR" altLang="en-US" dirty="0"/>
              <a:t>이 상당히 길어 이시간 까지 고려한 전체 성능은 </a:t>
            </a:r>
            <a:r>
              <a:rPr lang="en-US" altLang="ko-KR" dirty="0" err="1"/>
              <a:t>cuML</a:t>
            </a:r>
            <a:r>
              <a:rPr lang="ko-KR" altLang="en-US" dirty="0"/>
              <a:t>보다 확연히 느린 결과를 확인했습니다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03547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결론적으로 데이터 및 알고리즘 특성을 고려한 </a:t>
            </a:r>
            <a:r>
              <a:rPr lang="en-US" altLang="ko-KR" dirty="0" err="1"/>
              <a:t>SoA</a:t>
            </a:r>
            <a:r>
              <a:rPr lang="ko-KR" altLang="en-US" dirty="0"/>
              <a:t>와 </a:t>
            </a:r>
            <a:r>
              <a:rPr lang="en-US" altLang="ko-KR" dirty="0"/>
              <a:t>CSR format, Shared </a:t>
            </a:r>
            <a:r>
              <a:rPr lang="ko-KR" altLang="en-US" dirty="0"/>
              <a:t>메모리 활용 등의 기법은 매우 효과가 좋았고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전처리가 되어있다는 가정하에 </a:t>
            </a:r>
            <a:r>
              <a:rPr lang="en-US" altLang="ko-KR" dirty="0" err="1"/>
              <a:t>cuML</a:t>
            </a:r>
            <a:r>
              <a:rPr lang="en-US" altLang="ko-KR" dirty="0"/>
              <a:t> </a:t>
            </a:r>
            <a:r>
              <a:rPr lang="ko-KR" altLang="en-US" dirty="0"/>
              <a:t>대비 좋은 성능을 달성하였습니다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이번 프로젝트를 하며 </a:t>
            </a:r>
            <a:r>
              <a:rPr lang="en-US" altLang="ko-KR" dirty="0" err="1"/>
              <a:t>cuML</a:t>
            </a:r>
            <a:r>
              <a:rPr lang="ko-KR" altLang="en-US" dirty="0"/>
              <a:t>을 쓰면 이렇게 편하구나도 느꼇지만 직접 쿠다를 이용해 </a:t>
            </a:r>
            <a:r>
              <a:rPr lang="en-US" altLang="ko-KR" dirty="0"/>
              <a:t>customizing</a:t>
            </a:r>
            <a:r>
              <a:rPr lang="ko-KR" altLang="en-US" dirty="0"/>
              <a:t>을 하면 더 높은 이해도와 성능을 달성할 수 있긴하구나 하는</a:t>
            </a:r>
            <a:endParaRPr lang="en-US" altLang="ko-KR" dirty="0"/>
          </a:p>
          <a:p>
            <a:r>
              <a:rPr lang="ko-KR" altLang="en-US" dirty="0"/>
              <a:t>그런 느낀점이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9454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추가적으로 처음에는 제가 아이디어 리스트 </a:t>
            </a:r>
            <a:r>
              <a:rPr lang="en-US" altLang="ko-KR" dirty="0" err="1"/>
              <a:t>Kmeans</a:t>
            </a:r>
            <a:r>
              <a:rPr lang="ko-KR" altLang="en-US" dirty="0"/>
              <a:t>에 같이 언급되어 있던 </a:t>
            </a:r>
            <a:r>
              <a:rPr lang="en-US" altLang="ko-KR" dirty="0" err="1"/>
              <a:t>PopCorn</a:t>
            </a:r>
            <a:r>
              <a:rPr lang="ko-KR" altLang="en-US" dirty="0"/>
              <a:t>이라는 </a:t>
            </a:r>
            <a:r>
              <a:rPr lang="en-US" altLang="ko-KR" dirty="0"/>
              <a:t>Paper</a:t>
            </a:r>
            <a:r>
              <a:rPr lang="ko-KR" altLang="en-US" dirty="0"/>
              <a:t>를 </a:t>
            </a:r>
            <a:r>
              <a:rPr lang="en-US" altLang="ko-KR" dirty="0"/>
              <a:t>reproduce</a:t>
            </a:r>
            <a:r>
              <a:rPr lang="ko-KR" altLang="en-US" dirty="0"/>
              <a:t>해서 </a:t>
            </a:r>
            <a:r>
              <a:rPr lang="en-US" altLang="ko-KR" dirty="0" err="1"/>
              <a:t>baseLine</a:t>
            </a:r>
            <a:r>
              <a:rPr lang="ko-KR" altLang="en-US" dirty="0"/>
              <a:t>으로 삼고 이를 개선하고자 했었는데요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135483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간단하게 말씀드리면 </a:t>
            </a:r>
            <a:endParaRPr lang="en-US" altLang="ko-KR" dirty="0"/>
          </a:p>
          <a:p>
            <a:r>
              <a:rPr lang="en-US" altLang="ko-KR" dirty="0" err="1"/>
              <a:t>Kmeans</a:t>
            </a:r>
            <a:r>
              <a:rPr lang="ko-KR" altLang="en-US" dirty="0"/>
              <a:t>는 데이터를 비선형 항수로 보내 분리를 더 잘하게 하는 </a:t>
            </a:r>
            <a:r>
              <a:rPr lang="en-US" altLang="ko-KR" dirty="0"/>
              <a:t>Kernel K Means </a:t>
            </a:r>
            <a:r>
              <a:rPr lang="ko-KR" altLang="en-US" dirty="0"/>
              <a:t>를 최적화하는 것이 주제인데</a:t>
            </a:r>
            <a:endParaRPr lang="en-US" altLang="ko-KR" dirty="0"/>
          </a:p>
          <a:p>
            <a:r>
              <a:rPr lang="ko-KR" altLang="en-US" dirty="0"/>
              <a:t>거리 계산을 제안한 식으로 변경하여 활용하면 연산을 줄일 수 있다라는 </a:t>
            </a:r>
            <a:r>
              <a:rPr lang="en-US" altLang="ko-KR" dirty="0"/>
              <a:t>Paper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451630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여기서 기존 구현이 </a:t>
            </a:r>
            <a:r>
              <a:rPr lang="en-US" altLang="ko-KR" dirty="0"/>
              <a:t>fp32</a:t>
            </a:r>
            <a:r>
              <a:rPr lang="ko-KR" altLang="en-US" dirty="0"/>
              <a:t>로 되어있다는것에 착안해서 </a:t>
            </a:r>
            <a:endParaRPr lang="en-US" altLang="ko-KR" dirty="0"/>
          </a:p>
          <a:p>
            <a:r>
              <a:rPr lang="en-US" altLang="ko-KR" dirty="0"/>
              <a:t>Data</a:t>
            </a:r>
            <a:r>
              <a:rPr lang="ko-KR" altLang="en-US" dirty="0"/>
              <a:t>를 </a:t>
            </a:r>
            <a:r>
              <a:rPr lang="en-US" altLang="ko-KR" dirty="0"/>
              <a:t>fp16</a:t>
            </a:r>
            <a:r>
              <a:rPr lang="ko-KR" altLang="en-US" dirty="0"/>
              <a:t>으로 변환후 </a:t>
            </a:r>
            <a:r>
              <a:rPr lang="en-US" altLang="ko-KR" dirty="0"/>
              <a:t>tensor</a:t>
            </a:r>
            <a:r>
              <a:rPr lang="ko-KR" altLang="en-US" dirty="0"/>
              <a:t>을 적극 활용해서 </a:t>
            </a:r>
            <a:r>
              <a:rPr lang="en-US" altLang="ko-KR" dirty="0"/>
              <a:t>tensor </a:t>
            </a:r>
            <a:r>
              <a:rPr lang="en-US" altLang="ko-KR" dirty="0" err="1"/>
              <a:t>Parllelism</a:t>
            </a:r>
            <a:r>
              <a:rPr lang="ko-KR" altLang="en-US" dirty="0"/>
              <a:t>을 극대화 하는걸 주된 목표로 삼았었는데요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7863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문제는 코드가 </a:t>
            </a:r>
            <a:r>
              <a:rPr lang="en-US" altLang="ko-KR" dirty="0" err="1"/>
              <a:t>github</a:t>
            </a:r>
            <a:r>
              <a:rPr lang="ko-KR" altLang="en-US" dirty="0"/>
              <a:t>에 공개되어 있기는 한데 </a:t>
            </a:r>
            <a:endParaRPr lang="en-US" altLang="ko-KR" dirty="0"/>
          </a:p>
          <a:p>
            <a:r>
              <a:rPr lang="en-US" altLang="ko-KR" dirty="0"/>
              <a:t>dependency</a:t>
            </a:r>
            <a:r>
              <a:rPr lang="ko-KR" altLang="en-US" dirty="0"/>
              <a:t>에 관한 설명이 없고 마지막 </a:t>
            </a:r>
            <a:r>
              <a:rPr lang="en-US" altLang="ko-KR" dirty="0"/>
              <a:t>commit</a:t>
            </a:r>
            <a:r>
              <a:rPr lang="ko-KR" altLang="en-US" dirty="0"/>
              <a:t>이 </a:t>
            </a:r>
            <a:r>
              <a:rPr lang="en-US" altLang="ko-KR" dirty="0"/>
              <a:t>24</a:t>
            </a:r>
            <a:r>
              <a:rPr lang="ko-KR" altLang="en-US" dirty="0"/>
              <a:t>년이라 빌드가 안됩니다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게다가 </a:t>
            </a:r>
            <a:r>
              <a:rPr lang="en-US" altLang="ko-KR" dirty="0"/>
              <a:t>fi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 빌드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있어선지 </a:t>
            </a:r>
            <a:r>
              <a:rPr lang="ko-KR" altLang="en-US" dirty="0"/>
              <a:t>첫 빌드를 돌리려면 </a:t>
            </a:r>
            <a:r>
              <a:rPr lang="en-US" altLang="ko-KR" dirty="0"/>
              <a:t>2</a:t>
            </a:r>
            <a:r>
              <a:rPr lang="ko-KR" altLang="en-US" dirty="0"/>
              <a:t>시간이 걸리더라구요</a:t>
            </a:r>
            <a:endParaRPr lang="en-US" altLang="ko-KR" dirty="0"/>
          </a:p>
          <a:p>
            <a:r>
              <a:rPr lang="ko-KR" altLang="en-US" dirty="0"/>
              <a:t>에러 한번 고치고 </a:t>
            </a:r>
            <a:r>
              <a:rPr lang="en-US" altLang="ko-KR" dirty="0"/>
              <a:t>2</a:t>
            </a:r>
            <a:r>
              <a:rPr lang="ko-KR" altLang="en-US" dirty="0"/>
              <a:t>시간 기다리고 </a:t>
            </a:r>
            <a:r>
              <a:rPr lang="en-US" altLang="ko-KR" dirty="0"/>
              <a:t>error</a:t>
            </a:r>
            <a:r>
              <a:rPr lang="ko-KR" altLang="en-US" dirty="0"/>
              <a:t>받고</a:t>
            </a:r>
            <a:r>
              <a:rPr lang="en-US" altLang="ko-KR" dirty="0"/>
              <a:t>.. </a:t>
            </a:r>
            <a:r>
              <a:rPr lang="ko-KR" altLang="en-US" dirty="0"/>
              <a:t>이런식으로 겨우겨우 빌드를 돌렸는데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3569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빌드 결과물로 저자들이 안내한대로 돌리려고 하니 안돌아갑니다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Naïve</a:t>
            </a:r>
            <a:r>
              <a:rPr lang="ko-KR" altLang="en-US" dirty="0"/>
              <a:t> 버전의 경우는 </a:t>
            </a:r>
            <a:r>
              <a:rPr lang="en-US" altLang="ko-KR" dirty="0"/>
              <a:t>accuracy</a:t>
            </a:r>
            <a:r>
              <a:rPr lang="ko-KR" altLang="en-US" dirty="0"/>
              <a:t>가 다르다고 나오고</a:t>
            </a:r>
            <a:endParaRPr lang="en-US" altLang="ko-KR" dirty="0"/>
          </a:p>
          <a:p>
            <a:r>
              <a:rPr lang="en-US" altLang="ko-KR" dirty="0"/>
              <a:t>Popcorn</a:t>
            </a:r>
            <a:r>
              <a:rPr lang="ko-KR" altLang="en-US" dirty="0"/>
              <a:t>의 경우 </a:t>
            </a:r>
            <a:r>
              <a:rPr lang="en-US" altLang="ko-KR" dirty="0"/>
              <a:t>memory align </a:t>
            </a:r>
            <a:r>
              <a:rPr lang="ko-KR" altLang="en-US" dirty="0"/>
              <a:t>이슈부터 각종 메모리 관리 이슈가 단계적으로 포진되어있어서 </a:t>
            </a:r>
            <a:endParaRPr lang="en-US" altLang="ko-KR" dirty="0"/>
          </a:p>
          <a:p>
            <a:r>
              <a:rPr lang="ko-KR" altLang="en-US" dirty="0"/>
              <a:t>거의 일주일이 넘는 시간을 낭비하고 아쉽게도 </a:t>
            </a:r>
            <a:r>
              <a:rPr lang="en-US" altLang="ko-KR" dirty="0"/>
              <a:t>reproduce</a:t>
            </a:r>
            <a:r>
              <a:rPr lang="ko-KR" altLang="en-US" dirty="0"/>
              <a:t>를 포기했습니다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부분은 너무 많은 시간을 투자해서 아쉽기도 하고</a:t>
            </a:r>
            <a:r>
              <a:rPr lang="en-US" altLang="ko-KR" dirty="0"/>
              <a:t>.. </a:t>
            </a:r>
          </a:p>
          <a:p>
            <a:r>
              <a:rPr lang="ko-KR" altLang="en-US" dirty="0"/>
              <a:t>이러한 과정을 진행했고 이러한 </a:t>
            </a:r>
            <a:r>
              <a:rPr lang="en-US" altLang="ko-KR" dirty="0"/>
              <a:t>idea </a:t>
            </a:r>
            <a:r>
              <a:rPr lang="ko-KR" altLang="en-US" dirty="0"/>
              <a:t>적용또한 고려해봣다</a:t>
            </a:r>
            <a:r>
              <a:rPr lang="en-US" altLang="ko-KR" dirty="0"/>
              <a:t>.    </a:t>
            </a:r>
            <a:r>
              <a:rPr lang="ko-KR" altLang="en-US" dirty="0"/>
              <a:t>정도 공유드리고자 추가해봤습니다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420290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이상으로 발표 마치겠습니다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37FC7-C0DE-2848-BA2F-A4E9BDE547FC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51237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DD50A-151A-DF57-2B44-8F198C7BF1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453958"/>
          </a:xfrm>
        </p:spPr>
        <p:txBody>
          <a:bodyPr anchor="b"/>
          <a:lstStyle>
            <a:lvl1pPr algn="ctr">
              <a:defRPr sz="4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ko-KR" dirty="0"/>
              <a:t>Title</a:t>
            </a:r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0D12B0-5666-E1D5-528C-CFFF441CE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0240"/>
            <a:ext cx="9144000" cy="137688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6625A8-61BA-C6A5-7723-BA756C04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A897B7-904C-B17A-D007-CC4391347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F27-0959-B245-9383-BCA270C02B2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CB9495-7495-4DB6-B18D-56D8BA8A7324}"/>
              </a:ext>
            </a:extLst>
          </p:cNvPr>
          <p:cNvSpPr/>
          <p:nvPr userDrawn="1"/>
        </p:nvSpPr>
        <p:spPr>
          <a:xfrm flipH="1">
            <a:off x="321086" y="6250904"/>
            <a:ext cx="1242467" cy="540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74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A54BE-BBCF-04FB-0154-26CA6DB9F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ko-KR" dirty="0"/>
              <a:t>Title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38FAA-1D8B-D4C6-E69E-98AB398A9FD3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kumimoji="1" lang="en-US" altLang="ko-KR" dirty="0"/>
              <a:t>A</a:t>
            </a:r>
          </a:p>
          <a:p>
            <a:pPr lvl="1"/>
            <a:r>
              <a:rPr kumimoji="1" lang="en-US" altLang="ko-KR" dirty="0"/>
              <a:t>B</a:t>
            </a:r>
          </a:p>
          <a:p>
            <a:pPr lvl="2"/>
            <a:r>
              <a:rPr kumimoji="1" lang="en-US" altLang="ko-KR" dirty="0"/>
              <a:t>C</a:t>
            </a:r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3BDC4D-6B78-7FA6-7B79-8D45109AF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7FEFD5-1A2F-D993-D6B4-C2D46185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F27-0959-B245-9383-BCA270C02B2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221E4C-5B43-4D35-A5C2-F8B0AFDAD2FC}"/>
              </a:ext>
            </a:extLst>
          </p:cNvPr>
          <p:cNvSpPr/>
          <p:nvPr userDrawn="1"/>
        </p:nvSpPr>
        <p:spPr>
          <a:xfrm flipH="1">
            <a:off x="321086" y="6250904"/>
            <a:ext cx="1242467" cy="540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6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A45CF-82F0-15DA-AAE4-560AEE66F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ko-KR" dirty="0"/>
              <a:t>Title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AC8F66-A2F2-6340-98DF-CE388725F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4AA91C-66ED-800A-595F-6DF83CC18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F27-0959-B245-9383-BCA270C02B2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36547B-7FF6-453E-A93A-AE8246A42ABA}"/>
              </a:ext>
            </a:extLst>
          </p:cNvPr>
          <p:cNvSpPr/>
          <p:nvPr userDrawn="1"/>
        </p:nvSpPr>
        <p:spPr>
          <a:xfrm flipH="1">
            <a:off x="321086" y="6250904"/>
            <a:ext cx="1242467" cy="540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25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27DF37-7017-CA90-E797-1130F975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2A46CF-9756-F0ED-BAB3-1DD54919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F27-0959-B245-9383-BCA270C02B2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AA8C8D-7261-4E5E-9595-03AF85E3A9E1}"/>
              </a:ext>
            </a:extLst>
          </p:cNvPr>
          <p:cNvSpPr/>
          <p:nvPr userDrawn="1"/>
        </p:nvSpPr>
        <p:spPr>
          <a:xfrm flipH="1">
            <a:off x="321086" y="6250904"/>
            <a:ext cx="1242467" cy="540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092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9A14D4-138D-47C5-5F91-E688FC53B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8084"/>
            <a:ext cx="10515599" cy="5407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en-US" altLang="ko-KR" dirty="0"/>
              <a:t>Title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BF8FA8-A478-E9AA-9479-6ADF4CC14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3518"/>
            <a:ext cx="10515600" cy="4723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061250-5B5A-3B82-BD1D-E4EB4DE2E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185339"/>
            <a:ext cx="3591560" cy="246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Korail Round Gothic Light" panose="02020603020101020101" pitchFamily="18" charset="-127"/>
                <a:cs typeface="Arial" panose="020B0604020202020204" pitchFamily="34" charset="0"/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EB6311-A6B0-4901-9E3D-38EF11053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7830" y="6361613"/>
            <a:ext cx="8319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Korail Round Gothic Medium" panose="02000300000000000000" pitchFamily="2" charset="-127"/>
                <a:ea typeface="Korail Round Gothic Medium" panose="02000300000000000000" pitchFamily="2" charset="-127"/>
              </a:defRPr>
            </a:lvl1pPr>
          </a:lstStyle>
          <a:p>
            <a:fld id="{F3C40F27-0959-B245-9383-BCA270C02B2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EED7D9-DB85-EADE-A118-299161BF8F03}"/>
              </a:ext>
            </a:extLst>
          </p:cNvPr>
          <p:cNvSpPr/>
          <p:nvPr/>
        </p:nvSpPr>
        <p:spPr>
          <a:xfrm>
            <a:off x="0" y="6026"/>
            <a:ext cx="12192000" cy="71120"/>
          </a:xfrm>
          <a:prstGeom prst="rect">
            <a:avLst/>
          </a:prstGeom>
          <a:solidFill>
            <a:srgbClr val="0034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244FBE-753D-C39E-3239-975C6B952D68}"/>
              </a:ext>
            </a:extLst>
          </p:cNvPr>
          <p:cNvSpPr/>
          <p:nvPr/>
        </p:nvSpPr>
        <p:spPr>
          <a:xfrm>
            <a:off x="2832000" y="0"/>
            <a:ext cx="9360000" cy="71120"/>
          </a:xfrm>
          <a:prstGeom prst="rect">
            <a:avLst/>
          </a:prstGeom>
          <a:solidFill>
            <a:srgbClr val="B0E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4FC69BB2-3CBE-7C06-BCD9-D501AAADED81}"/>
              </a:ext>
            </a:extLst>
          </p:cNvPr>
          <p:cNvCxnSpPr/>
          <p:nvPr/>
        </p:nvCxnSpPr>
        <p:spPr>
          <a:xfrm>
            <a:off x="838199" y="427266"/>
            <a:ext cx="1044000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FC6F3A5B-3A7C-7DBD-6B32-6E5402226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393" y="6235972"/>
            <a:ext cx="500163" cy="54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A46890C-AEF9-EA1D-B0D0-92A783CEEA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676" y="6240854"/>
            <a:ext cx="526035" cy="540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27F9DE9-5204-09A6-655F-C0244B24C8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3798" y="118417"/>
            <a:ext cx="521005" cy="540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1AE2AE0-2E1C-4686-A29F-964025ED2860}"/>
              </a:ext>
            </a:extLst>
          </p:cNvPr>
          <p:cNvSpPr/>
          <p:nvPr userDrawn="1"/>
        </p:nvSpPr>
        <p:spPr>
          <a:xfrm flipH="1">
            <a:off x="321086" y="6250904"/>
            <a:ext cx="1242467" cy="540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47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spc="-2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Korail Round Gothic Medium" panose="02000300000000000000" pitchFamily="2" charset="-127"/>
          <a:cs typeface="Arial" panose="020B0604020202020204" pitchFamily="34" charset="0"/>
        </a:defRPr>
      </a:lvl1pPr>
    </p:titleStyle>
    <p:bodyStyle>
      <a:lvl1pPr marL="185738" indent="-185738" algn="l" defTabSz="914400" rtl="0" eaLnBrk="1" latinLnBrk="0" hangingPunct="1">
        <a:lnSpc>
          <a:spcPct val="120000"/>
        </a:lnSpc>
        <a:spcBef>
          <a:spcPts val="1000"/>
        </a:spcBef>
        <a:buClr>
          <a:srgbClr val="0000FF"/>
        </a:buClr>
        <a:buFont typeface="Arial" panose="020B0604020202020204" pitchFamily="34" charset="0"/>
        <a:buChar char="•"/>
        <a:tabLst/>
        <a:defRPr sz="2800" kern="1200" spc="-2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Korail Round Gothic Light" panose="02020603020101020101" pitchFamily="18" charset="-127"/>
          <a:cs typeface="Arial" panose="020B0604020202020204" pitchFamily="34" charset="0"/>
        </a:defRPr>
      </a:lvl1pPr>
      <a:lvl2pPr marL="447675" indent="-187325" algn="l" defTabSz="914400" rtl="0" eaLnBrk="1" latinLnBrk="0" hangingPunct="1">
        <a:lnSpc>
          <a:spcPct val="120000"/>
        </a:lnSpc>
        <a:spcBef>
          <a:spcPts val="500"/>
        </a:spcBef>
        <a:buClr>
          <a:srgbClr val="1E90FF"/>
        </a:buClr>
        <a:buFont typeface="Arial" panose="020B0604020202020204" pitchFamily="34" charset="0"/>
        <a:buChar char="•"/>
        <a:tabLst/>
        <a:defRPr sz="2400" kern="1200" spc="-2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Korail Round Gothic Light" panose="02020603020101020101" pitchFamily="18" charset="-127"/>
          <a:cs typeface="Arial" panose="020B0604020202020204" pitchFamily="34" charset="0"/>
        </a:defRPr>
      </a:lvl2pPr>
      <a:lvl3pPr marL="720725" indent="-185738" algn="l" defTabSz="914400" rtl="0" eaLnBrk="1" latinLnBrk="0" hangingPunct="1">
        <a:lnSpc>
          <a:spcPct val="120000"/>
        </a:lnSpc>
        <a:spcBef>
          <a:spcPts val="500"/>
        </a:spcBef>
        <a:buClr>
          <a:srgbClr val="00BFFF"/>
        </a:buClr>
        <a:buFont typeface="Arial" panose="020B0604020202020204" pitchFamily="34" charset="0"/>
        <a:buChar char="•"/>
        <a:tabLst/>
        <a:defRPr sz="2400" kern="1200" spc="-20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Korail Round Gothic Light" panose="02020603020101020101" pitchFamily="18" charset="-127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B149C-25BE-F0FB-E86A-5E2D6B4EF2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ore-KR" b="1" dirty="0"/>
              <a:t>Parallel k-means clustering</a:t>
            </a:r>
            <a:endParaRPr kumimoji="1" lang="ko-Kore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F83B48-C746-2720-162A-F21AD85954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kumimoji="1" lang="ko-KR" altLang="en-US" dirty="0"/>
              <a:t>김민수</a:t>
            </a:r>
            <a:endParaRPr kumimoji="1" lang="en-US" altLang="ko-KR" dirty="0"/>
          </a:p>
          <a:p>
            <a:pPr algn="r"/>
            <a:r>
              <a:rPr kumimoji="1" lang="en-US" altLang="en-US" dirty="0"/>
              <a:t>2025-22681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891688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0F4CB-FAD7-1D92-C971-9293D610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8084"/>
            <a:ext cx="10515599" cy="540785"/>
          </a:xfrm>
        </p:spPr>
        <p:txBody>
          <a:bodyPr/>
          <a:lstStyle/>
          <a:p>
            <a:r>
              <a:rPr lang="en-US" altLang="en-US" dirty="0"/>
              <a:t>K-means clustering</a:t>
            </a:r>
            <a:endParaRPr lang="ko-Kore-KR" altLang="en-US" dirty="0"/>
          </a:p>
        </p:txBody>
      </p:sp>
      <p:sp>
        <p:nvSpPr>
          <p:cNvPr id="34" name="내용 개체 틀 33">
            <a:extLst>
              <a:ext uri="{FF2B5EF4-FFF2-40B4-BE49-F238E27FC236}">
                <a16:creationId xmlns:a16="http://schemas.microsoft.com/office/drawing/2014/main" id="{C00247B8-A8D2-E4DF-62E0-0A64E38AD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K-means</a:t>
            </a:r>
            <a:r>
              <a:rPr lang="ko-KR" altLang="en-US" sz="1800" dirty="0"/>
              <a:t>는 각 데이터 포인트를 </a:t>
            </a:r>
            <a:r>
              <a:rPr lang="ko-KR" altLang="en-US" sz="1800" b="1" dirty="0"/>
              <a:t>가장 가까운 중심점</a:t>
            </a:r>
            <a:r>
              <a:rPr lang="en-US" altLang="ko-KR" sz="1800" b="1" dirty="0"/>
              <a:t> </a:t>
            </a:r>
            <a:r>
              <a:rPr lang="ko-KR" altLang="en-US" sz="1800" dirty="0"/>
              <a:t>에 할당</a:t>
            </a:r>
            <a:endParaRPr lang="en-US" altLang="ko-KR" sz="1800" dirty="0"/>
          </a:p>
          <a:p>
            <a:r>
              <a:rPr lang="ko-KR" altLang="en-US" sz="1800" dirty="0"/>
              <a:t>반복적 최적화</a:t>
            </a:r>
            <a:r>
              <a:rPr lang="en-US" altLang="ko-KR" sz="1800" dirty="0"/>
              <a:t>	</a:t>
            </a:r>
          </a:p>
          <a:p>
            <a:pPr lvl="1"/>
            <a:r>
              <a:rPr lang="en-US" altLang="ko-KR" sz="1400" dirty="0"/>
              <a:t>Assignment step: </a:t>
            </a:r>
            <a:r>
              <a:rPr lang="ko-KR" altLang="en-US" sz="1400" dirty="0"/>
              <a:t>데이터 → 가장 </a:t>
            </a:r>
            <a:r>
              <a:rPr lang="ko-KR" altLang="en-US" sz="1400" b="1" dirty="0"/>
              <a:t>가까운</a:t>
            </a:r>
            <a:r>
              <a:rPr lang="ko-KR" altLang="en-US" sz="1400" dirty="0"/>
              <a:t> </a:t>
            </a:r>
            <a:r>
              <a:rPr lang="en-US" altLang="ko-KR" sz="1400" dirty="0"/>
              <a:t>centroid</a:t>
            </a:r>
            <a:r>
              <a:rPr lang="ko-KR" altLang="en-US" sz="1400" dirty="0"/>
              <a:t>로 배정</a:t>
            </a:r>
            <a:endParaRPr lang="en-US" altLang="ko-KR" sz="1400" dirty="0"/>
          </a:p>
          <a:p>
            <a:pPr lvl="1"/>
            <a:r>
              <a:rPr lang="en-US" altLang="ko-KR" sz="1400" dirty="0"/>
              <a:t>Update step: centroid </a:t>
            </a:r>
            <a:r>
              <a:rPr lang="ko-KR" altLang="en-US" sz="1400" dirty="0"/>
              <a:t>재계산 </a:t>
            </a:r>
            <a:r>
              <a:rPr lang="en-US" altLang="ko-KR" sz="1400" dirty="0"/>
              <a:t>(</a:t>
            </a:r>
            <a:r>
              <a:rPr lang="ko-KR" altLang="en-US" sz="1400" dirty="0"/>
              <a:t>거리 평균</a:t>
            </a:r>
            <a:r>
              <a:rPr lang="en-US" altLang="ko-KR" sz="1400" dirty="0"/>
              <a:t>)</a:t>
            </a:r>
          </a:p>
          <a:p>
            <a:pPr lvl="1"/>
            <a:r>
              <a:rPr lang="ko-KR" altLang="en-US" sz="1400" dirty="0"/>
              <a:t>반복</a:t>
            </a:r>
            <a:endParaRPr lang="en-US" altLang="ko-KR" sz="1400" dirty="0"/>
          </a:p>
          <a:p>
            <a:r>
              <a:rPr lang="ko-KR" altLang="en-US" sz="1800" dirty="0"/>
              <a:t>거리 계산 → </a:t>
            </a:r>
            <a:r>
              <a:rPr lang="ko-KR" altLang="en-US" sz="1800" b="1" dirty="0"/>
              <a:t>병렬화에 매우 적합</a:t>
            </a:r>
            <a:endParaRPr lang="ko-Kore-KR" altLang="en-US" sz="1800" dirty="0"/>
          </a:p>
        </p:txBody>
      </p:sp>
      <p:pic>
        <p:nvPicPr>
          <p:cNvPr id="1028" name="Picture 4" descr="K-Means Clustering Algorithm | Examples | Gate Vidyalay">
            <a:extLst>
              <a:ext uri="{FF2B5EF4-FFF2-40B4-BE49-F238E27FC236}">
                <a16:creationId xmlns:a16="http://schemas.microsoft.com/office/drawing/2014/main" id="{CB893EC6-E6D5-4258-ACD9-87EC5DFDC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115" y="4015772"/>
            <a:ext cx="6638925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456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Dataset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7C6C-59EC-4436-BBC5-76CA00B13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make_blobs</a:t>
            </a:r>
            <a:r>
              <a:rPr lang="en-US" altLang="ko-KR" dirty="0"/>
              <a:t> </a:t>
            </a:r>
            <a:r>
              <a:rPr lang="ko-KR" altLang="en-US" dirty="0"/>
              <a:t>기반 </a:t>
            </a:r>
            <a:r>
              <a:rPr lang="en-US" altLang="ko-KR" dirty="0"/>
              <a:t>K-means </a:t>
            </a:r>
            <a:r>
              <a:rPr lang="ko-KR" altLang="en-US" dirty="0"/>
              <a:t>적합 </a:t>
            </a:r>
            <a:r>
              <a:rPr lang="en-US" altLang="ko-KR" dirty="0"/>
              <a:t>synthetic </a:t>
            </a:r>
            <a:r>
              <a:rPr lang="ko-KR" altLang="en-US" dirty="0"/>
              <a:t>데이터 </a:t>
            </a:r>
            <a:endParaRPr lang="en-US" altLang="ko-KR" dirty="0"/>
          </a:p>
          <a:p>
            <a:r>
              <a:rPr lang="en-US" altLang="ko-KR" dirty="0"/>
              <a:t>N=10M, dim = 100, # of Cluster: 10</a:t>
            </a:r>
          </a:p>
          <a:p>
            <a:r>
              <a:rPr lang="en-US" altLang="ko-KR" b="1" dirty="0"/>
              <a:t>Dense / Sparse</a:t>
            </a:r>
            <a:r>
              <a:rPr lang="ko-KR" altLang="en-US" b="1" dirty="0"/>
              <a:t>로 랜덤 구성</a:t>
            </a:r>
            <a:endParaRPr lang="en-US" altLang="ko-KR" b="1" dirty="0"/>
          </a:p>
          <a:p>
            <a:pPr lvl="1"/>
            <a:r>
              <a:rPr lang="en-US" altLang="ko-KR" dirty="0"/>
              <a:t>Dense: sparsity</a:t>
            </a:r>
            <a:r>
              <a:rPr lang="ko-KR" altLang="en-US" dirty="0"/>
              <a:t> </a:t>
            </a:r>
            <a:r>
              <a:rPr lang="en-US" altLang="ko-KR" dirty="0"/>
              <a:t>0–20% Sparse: sparsity</a:t>
            </a:r>
            <a:r>
              <a:rPr lang="ko-KR" altLang="en-US" dirty="0"/>
              <a:t> </a:t>
            </a:r>
            <a:r>
              <a:rPr lang="en-US" altLang="ko-KR" dirty="0"/>
              <a:t>80–95%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Average</a:t>
            </a:r>
            <a:r>
              <a:rPr lang="ko-KR" altLang="en-US" dirty="0"/>
              <a:t>로 성능 측정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First cluster centroids</a:t>
            </a:r>
            <a:r>
              <a:rPr lang="ko-KR" altLang="en-US" dirty="0"/>
              <a:t>은 맨 앞 </a:t>
            </a:r>
            <a:r>
              <a:rPr lang="en-US" altLang="ko-KR" dirty="0"/>
              <a:t>10</a:t>
            </a:r>
            <a:r>
              <a:rPr lang="ko-KR" altLang="en-US" dirty="0"/>
              <a:t>개 </a:t>
            </a:r>
            <a:r>
              <a:rPr lang="en-US" altLang="ko-KR" dirty="0"/>
              <a:t>points</a:t>
            </a:r>
          </a:p>
          <a:p>
            <a:pPr marL="260350" lvl="1" indent="0">
              <a:buNone/>
            </a:pPr>
            <a:endParaRPr lang="en-US" altLang="ko-KR" dirty="0"/>
          </a:p>
          <a:p>
            <a:pPr marL="260350" lvl="1" indent="0">
              <a:buNone/>
            </a:pPr>
            <a:r>
              <a:rPr lang="en-US" altLang="ko-K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45531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BaseLine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7C6C-59EC-4436-BBC5-76CA00B13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CPU Baseline – </a:t>
            </a:r>
            <a:r>
              <a:rPr lang="en-US" altLang="ko-KR" dirty="0" err="1"/>
              <a:t>sklearn</a:t>
            </a:r>
            <a:endParaRPr lang="en-US" altLang="ko-KR" dirty="0"/>
          </a:p>
          <a:p>
            <a:pPr lvl="1"/>
            <a:r>
              <a:rPr lang="en-US" altLang="ko-KR" dirty="0"/>
              <a:t>Python </a:t>
            </a:r>
            <a:r>
              <a:rPr lang="ko-KR" altLang="en-US" dirty="0"/>
              <a:t>기반의 대표적인 머신러닝 라이브러리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CPU </a:t>
            </a:r>
            <a:r>
              <a:rPr lang="ko-KR" altLang="en-US" dirty="0"/>
              <a:t>환경에서 </a:t>
            </a:r>
            <a:r>
              <a:rPr lang="en-US" altLang="ko-KR" dirty="0"/>
              <a:t>K-means</a:t>
            </a:r>
            <a:r>
              <a:rPr lang="ko-KR" altLang="en-US" dirty="0"/>
              <a:t>를 안정적으로 구현</a:t>
            </a:r>
            <a:r>
              <a:rPr lang="en-US" altLang="ko-KR" dirty="0"/>
              <a:t>,</a:t>
            </a:r>
            <a:r>
              <a:rPr lang="ko-KR" altLang="en-US" dirty="0"/>
              <a:t> 계산 병목을 명확히 관찰 가능</a:t>
            </a:r>
            <a:endParaRPr lang="en-US" altLang="ko-KR" dirty="0"/>
          </a:p>
          <a:p>
            <a:pPr lvl="1"/>
            <a:r>
              <a:rPr lang="en-US" altLang="ko-KR" dirty="0"/>
              <a:t>Average : 24556 </a:t>
            </a:r>
            <a:r>
              <a:rPr lang="en-US" altLang="ko-KR" dirty="0" err="1"/>
              <a:t>ms</a:t>
            </a:r>
            <a:endParaRPr lang="en-US" altLang="ko-KR" dirty="0"/>
          </a:p>
          <a:p>
            <a:r>
              <a:rPr lang="en-US" altLang="ko-KR" dirty="0"/>
              <a:t>GPU</a:t>
            </a:r>
            <a:r>
              <a:rPr lang="ko-KR" altLang="en-US" dirty="0"/>
              <a:t> </a:t>
            </a:r>
            <a:r>
              <a:rPr lang="en-US" altLang="ko-KR" dirty="0"/>
              <a:t>Baseline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en-US" altLang="ko-KR" dirty="0" err="1"/>
              <a:t>cuML</a:t>
            </a:r>
            <a:endParaRPr lang="en-US" altLang="ko-KR" dirty="0"/>
          </a:p>
          <a:p>
            <a:pPr lvl="1"/>
            <a:r>
              <a:rPr lang="en-US" altLang="ko-KR" dirty="0"/>
              <a:t>NVIDIA RAPIDS </a:t>
            </a:r>
            <a:r>
              <a:rPr lang="ko-KR" altLang="en-US" dirty="0"/>
              <a:t>기반의 </a:t>
            </a:r>
            <a:r>
              <a:rPr lang="en-US" altLang="ko-KR" dirty="0"/>
              <a:t>GPU </a:t>
            </a:r>
            <a:r>
              <a:rPr lang="ko-KR" altLang="en-US" dirty="0"/>
              <a:t>가속 머신러닝 라이브러리</a:t>
            </a:r>
            <a:endParaRPr lang="en-US" altLang="ko-KR" dirty="0"/>
          </a:p>
          <a:p>
            <a:pPr lvl="1"/>
            <a:r>
              <a:rPr lang="en-US" altLang="ko-KR" dirty="0"/>
              <a:t>CUDA </a:t>
            </a:r>
            <a:r>
              <a:rPr lang="ko-KR" altLang="en-US" dirty="0"/>
              <a:t>기반 병렬 연산을 통해 </a:t>
            </a:r>
            <a:r>
              <a:rPr lang="en-US" altLang="ko-KR" dirty="0"/>
              <a:t>K-means</a:t>
            </a:r>
            <a:r>
              <a:rPr lang="ko-KR" altLang="en-US" dirty="0"/>
              <a:t>를 고속 수행</a:t>
            </a:r>
            <a:endParaRPr lang="en-US" altLang="ko-KR" dirty="0"/>
          </a:p>
          <a:p>
            <a:pPr lvl="1"/>
            <a:r>
              <a:rPr lang="en-US" altLang="ko-KR" dirty="0"/>
              <a:t>Average : 993ms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44377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8084"/>
            <a:ext cx="10515599" cy="540785"/>
          </a:xfrm>
        </p:spPr>
        <p:txBody>
          <a:bodyPr/>
          <a:lstStyle/>
          <a:p>
            <a:r>
              <a:rPr lang="en-US" altLang="ko-KR" dirty="0"/>
              <a:t>Flow - Naive</a:t>
            </a:r>
            <a:endParaRPr lang="ko-KR" altLang="en-US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396D3A1-DB97-412A-8D9F-2757A130B588}"/>
              </a:ext>
            </a:extLst>
          </p:cNvPr>
          <p:cNvGrpSpPr/>
          <p:nvPr/>
        </p:nvGrpSpPr>
        <p:grpSpPr>
          <a:xfrm>
            <a:off x="1735858" y="3109710"/>
            <a:ext cx="9617940" cy="3359354"/>
            <a:chOff x="1735858" y="2817610"/>
            <a:chExt cx="9617940" cy="3359354"/>
          </a:xfrm>
        </p:grpSpPr>
        <p:sp>
          <p:nvSpPr>
            <p:cNvPr id="5" name="타원 1088">
              <a:extLst>
                <a:ext uri="{FF2B5EF4-FFF2-40B4-BE49-F238E27FC236}">
                  <a16:creationId xmlns:a16="http://schemas.microsoft.com/office/drawing/2014/main" id="{E3BCF907-0D7C-4F45-837C-331388C1B994}"/>
                </a:ext>
              </a:extLst>
            </p:cNvPr>
            <p:cNvSpPr/>
            <p:nvPr/>
          </p:nvSpPr>
          <p:spPr>
            <a:xfrm>
              <a:off x="1735858" y="5061979"/>
              <a:ext cx="226577" cy="210393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9F787BF-05EB-44C5-ABAE-800AF7D5151A}"/>
                </a:ext>
              </a:extLst>
            </p:cNvPr>
            <p:cNvSpPr txBox="1"/>
            <p:nvPr/>
          </p:nvSpPr>
          <p:spPr>
            <a:xfrm>
              <a:off x="1948688" y="4972314"/>
              <a:ext cx="22283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Data Load</a:t>
              </a:r>
              <a:endParaRPr kumimoji="1" lang="ko-Kore-KR" altLang="en-US" dirty="0"/>
            </a:p>
          </p:txBody>
        </p:sp>
        <p:sp>
          <p:nvSpPr>
            <p:cNvPr id="7" name="타원 1090">
              <a:extLst>
                <a:ext uri="{FF2B5EF4-FFF2-40B4-BE49-F238E27FC236}">
                  <a16:creationId xmlns:a16="http://schemas.microsoft.com/office/drawing/2014/main" id="{30D6BAFE-27BC-4C6D-AEFB-5729082B0678}"/>
                </a:ext>
              </a:extLst>
            </p:cNvPr>
            <p:cNvSpPr/>
            <p:nvPr/>
          </p:nvSpPr>
          <p:spPr>
            <a:xfrm>
              <a:off x="1735858" y="5461618"/>
              <a:ext cx="226577" cy="210393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C4E63A-4F24-4513-A128-E9639FB04F60}"/>
                </a:ext>
              </a:extLst>
            </p:cNvPr>
            <p:cNvSpPr txBox="1"/>
            <p:nvPr/>
          </p:nvSpPr>
          <p:spPr>
            <a:xfrm>
              <a:off x="1948689" y="5371953"/>
              <a:ext cx="1254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HtoD</a:t>
              </a:r>
              <a:r>
                <a:rPr lang="en-US" altLang="ko-KR" dirty="0"/>
                <a:t> Copy</a:t>
              </a:r>
              <a:endParaRPr kumimoji="1" lang="ko-Kore-KR" altLang="en-US" dirty="0"/>
            </a:p>
          </p:txBody>
        </p:sp>
        <p:sp>
          <p:nvSpPr>
            <p:cNvPr id="9" name="타원 1092">
              <a:extLst>
                <a:ext uri="{FF2B5EF4-FFF2-40B4-BE49-F238E27FC236}">
                  <a16:creationId xmlns:a16="http://schemas.microsoft.com/office/drawing/2014/main" id="{A73EBEB8-F77C-43A2-A691-D982124A32FC}"/>
                </a:ext>
              </a:extLst>
            </p:cNvPr>
            <p:cNvSpPr/>
            <p:nvPr/>
          </p:nvSpPr>
          <p:spPr>
            <a:xfrm>
              <a:off x="1749604" y="5875123"/>
              <a:ext cx="226577" cy="210393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76305B-339D-4C8F-8CCF-4CFD5AF56B0D}"/>
                </a:ext>
              </a:extLst>
            </p:cNvPr>
            <p:cNvSpPr txBox="1"/>
            <p:nvPr/>
          </p:nvSpPr>
          <p:spPr>
            <a:xfrm>
              <a:off x="1962435" y="5785458"/>
              <a:ext cx="1369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Initialization</a:t>
              </a:r>
              <a:endParaRPr kumimoji="1" lang="ko-Kore-KR" altLang="en-US" dirty="0"/>
            </a:p>
          </p:txBody>
        </p:sp>
        <p:sp>
          <p:nvSpPr>
            <p:cNvPr id="11" name="타원 1094">
              <a:extLst>
                <a:ext uri="{FF2B5EF4-FFF2-40B4-BE49-F238E27FC236}">
                  <a16:creationId xmlns:a16="http://schemas.microsoft.com/office/drawing/2014/main" id="{A5BF79D4-84FC-4D73-ACDD-F257A2D2E2F7}"/>
                </a:ext>
              </a:extLst>
            </p:cNvPr>
            <p:cNvSpPr/>
            <p:nvPr/>
          </p:nvSpPr>
          <p:spPr>
            <a:xfrm>
              <a:off x="4542514" y="5460997"/>
              <a:ext cx="226577" cy="21039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EC0EB4-FA32-4166-B515-12114270D365}"/>
                </a:ext>
              </a:extLst>
            </p:cNvPr>
            <p:cNvSpPr txBox="1"/>
            <p:nvPr/>
          </p:nvSpPr>
          <p:spPr>
            <a:xfrm>
              <a:off x="4755345" y="5371332"/>
              <a:ext cx="2506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computeNewCentroids</a:t>
              </a:r>
              <a:endParaRPr kumimoji="1" lang="ko-Kore-KR" altLang="en-US" dirty="0"/>
            </a:p>
          </p:txBody>
        </p:sp>
        <p:sp>
          <p:nvSpPr>
            <p:cNvPr id="13" name="타원 1096">
              <a:extLst>
                <a:ext uri="{FF2B5EF4-FFF2-40B4-BE49-F238E27FC236}">
                  <a16:creationId xmlns:a16="http://schemas.microsoft.com/office/drawing/2014/main" id="{507F052F-44C3-44F2-AA99-8F044D336F0A}"/>
                </a:ext>
              </a:extLst>
            </p:cNvPr>
            <p:cNvSpPr/>
            <p:nvPr/>
          </p:nvSpPr>
          <p:spPr>
            <a:xfrm>
              <a:off x="4542514" y="5049974"/>
              <a:ext cx="226577" cy="210393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17F7D94-C00D-44B7-8D39-E25B96F6C040}"/>
                </a:ext>
              </a:extLst>
            </p:cNvPr>
            <p:cNvSpPr txBox="1"/>
            <p:nvPr/>
          </p:nvSpPr>
          <p:spPr>
            <a:xfrm>
              <a:off x="4755345" y="4960309"/>
              <a:ext cx="22283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assignCluster</a:t>
              </a:r>
              <a:endParaRPr kumimoji="1" lang="ko-Kore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41E2CF-BA8F-4965-832D-EEB550046726}"/>
                </a:ext>
              </a:extLst>
            </p:cNvPr>
            <p:cNvSpPr txBox="1"/>
            <p:nvPr/>
          </p:nvSpPr>
          <p:spPr>
            <a:xfrm>
              <a:off x="4780448" y="5807632"/>
              <a:ext cx="22283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averageCentroids</a:t>
              </a:r>
              <a:endParaRPr kumimoji="1" lang="ko-Kore-KR" altLang="en-US" dirty="0"/>
            </a:p>
          </p:txBody>
        </p:sp>
        <p:sp>
          <p:nvSpPr>
            <p:cNvPr id="83" name="직사각형 28">
              <a:extLst>
                <a:ext uri="{FF2B5EF4-FFF2-40B4-BE49-F238E27FC236}">
                  <a16:creationId xmlns:a16="http://schemas.microsoft.com/office/drawing/2014/main" id="{A509C027-14F4-45F3-B343-BD42A87E2A5E}"/>
                </a:ext>
              </a:extLst>
            </p:cNvPr>
            <p:cNvSpPr/>
            <p:nvPr/>
          </p:nvSpPr>
          <p:spPr>
            <a:xfrm>
              <a:off x="1737046" y="2817611"/>
              <a:ext cx="1416817" cy="194938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/>
                <a:t>Host</a:t>
              </a:r>
            </a:p>
            <a:p>
              <a:pPr algn="ctr"/>
              <a:r>
                <a:rPr kumimoji="1" lang="en-US" altLang="ko-Kore-KR" dirty="0"/>
                <a:t>Initial Setup</a:t>
              </a:r>
              <a:endParaRPr kumimoji="1" lang="ko-Kore-KR" altLang="en-US" dirty="0"/>
            </a:p>
          </p:txBody>
        </p:sp>
        <p:sp>
          <p:nvSpPr>
            <p:cNvPr id="84" name="직사각형 30">
              <a:extLst>
                <a:ext uri="{FF2B5EF4-FFF2-40B4-BE49-F238E27FC236}">
                  <a16:creationId xmlns:a16="http://schemas.microsoft.com/office/drawing/2014/main" id="{FB3BE1EA-B506-4013-A74F-47662A68D4BA}"/>
                </a:ext>
              </a:extLst>
            </p:cNvPr>
            <p:cNvSpPr/>
            <p:nvPr/>
          </p:nvSpPr>
          <p:spPr>
            <a:xfrm>
              <a:off x="4135759" y="2817610"/>
              <a:ext cx="3363597" cy="194938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Kernel</a:t>
              </a:r>
              <a:endParaRPr kumimoji="1" lang="ko-Kore-KR" altLang="en-US" dirty="0"/>
            </a:p>
          </p:txBody>
        </p:sp>
        <p:sp>
          <p:nvSpPr>
            <p:cNvPr id="85" name="직사각형 31">
              <a:extLst>
                <a:ext uri="{FF2B5EF4-FFF2-40B4-BE49-F238E27FC236}">
                  <a16:creationId xmlns:a16="http://schemas.microsoft.com/office/drawing/2014/main" id="{2E8E8C7B-4CB5-4A89-9B7A-2A5A28DB5A60}"/>
                </a:ext>
              </a:extLst>
            </p:cNvPr>
            <p:cNvSpPr/>
            <p:nvPr/>
          </p:nvSpPr>
          <p:spPr>
            <a:xfrm>
              <a:off x="9125477" y="2817610"/>
              <a:ext cx="1416817" cy="194938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Host</a:t>
              </a:r>
            </a:p>
            <a:p>
              <a:pPr algn="ctr"/>
              <a:r>
                <a:rPr lang="en-US" altLang="ko-KR" dirty="0"/>
                <a:t>Verification</a:t>
              </a:r>
              <a:endParaRPr kumimoji="1" lang="ko-Kore-KR" altLang="en-US" dirty="0"/>
            </a:p>
          </p:txBody>
        </p:sp>
        <p:sp>
          <p:nvSpPr>
            <p:cNvPr id="87" name="타원 1088">
              <a:extLst>
                <a:ext uri="{FF2B5EF4-FFF2-40B4-BE49-F238E27FC236}">
                  <a16:creationId xmlns:a16="http://schemas.microsoft.com/office/drawing/2014/main" id="{32348DB4-F01C-4555-9E31-5F728A9A744C}"/>
                </a:ext>
              </a:extLst>
            </p:cNvPr>
            <p:cNvSpPr/>
            <p:nvPr/>
          </p:nvSpPr>
          <p:spPr>
            <a:xfrm>
              <a:off x="1905126" y="4402492"/>
              <a:ext cx="226577" cy="210393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88" name="타원 1090">
              <a:extLst>
                <a:ext uri="{FF2B5EF4-FFF2-40B4-BE49-F238E27FC236}">
                  <a16:creationId xmlns:a16="http://schemas.microsoft.com/office/drawing/2014/main" id="{24211644-6E34-4BBD-9284-A4061E91293F}"/>
                </a:ext>
              </a:extLst>
            </p:cNvPr>
            <p:cNvSpPr/>
            <p:nvPr/>
          </p:nvSpPr>
          <p:spPr>
            <a:xfrm>
              <a:off x="2718942" y="4410388"/>
              <a:ext cx="226577" cy="210393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89" name="타원 1092">
              <a:extLst>
                <a:ext uri="{FF2B5EF4-FFF2-40B4-BE49-F238E27FC236}">
                  <a16:creationId xmlns:a16="http://schemas.microsoft.com/office/drawing/2014/main" id="{7B701EED-DD00-4037-B156-B0F2371C4604}"/>
                </a:ext>
              </a:extLst>
            </p:cNvPr>
            <p:cNvSpPr/>
            <p:nvPr/>
          </p:nvSpPr>
          <p:spPr>
            <a:xfrm>
              <a:off x="2312034" y="4402492"/>
              <a:ext cx="226577" cy="210393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91" name="오른쪽 화살표[R] 33">
              <a:extLst>
                <a:ext uri="{FF2B5EF4-FFF2-40B4-BE49-F238E27FC236}">
                  <a16:creationId xmlns:a16="http://schemas.microsoft.com/office/drawing/2014/main" id="{09114043-1F85-429E-9690-451EA09447E5}"/>
                </a:ext>
              </a:extLst>
            </p:cNvPr>
            <p:cNvSpPr/>
            <p:nvPr/>
          </p:nvSpPr>
          <p:spPr>
            <a:xfrm>
              <a:off x="3234481" y="3395594"/>
              <a:ext cx="911204" cy="497436"/>
            </a:xfrm>
            <a:prstGeom prst="rightArrow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92" name="타원 1094">
              <a:extLst>
                <a:ext uri="{FF2B5EF4-FFF2-40B4-BE49-F238E27FC236}">
                  <a16:creationId xmlns:a16="http://schemas.microsoft.com/office/drawing/2014/main" id="{FC55DCB9-672F-494D-A8E3-22C219E9C341}"/>
                </a:ext>
              </a:extLst>
            </p:cNvPr>
            <p:cNvSpPr/>
            <p:nvPr/>
          </p:nvSpPr>
          <p:spPr>
            <a:xfrm>
              <a:off x="4542513" y="5920211"/>
              <a:ext cx="226577" cy="21039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93" name="타원 1094">
              <a:extLst>
                <a:ext uri="{FF2B5EF4-FFF2-40B4-BE49-F238E27FC236}">
                  <a16:creationId xmlns:a16="http://schemas.microsoft.com/office/drawing/2014/main" id="{B76CAE23-4618-4B4E-90E7-F5C331598597}"/>
                </a:ext>
              </a:extLst>
            </p:cNvPr>
            <p:cNvSpPr/>
            <p:nvPr/>
          </p:nvSpPr>
          <p:spPr>
            <a:xfrm rot="16200000">
              <a:off x="5629233" y="4382708"/>
              <a:ext cx="226577" cy="21039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94" name="타원 1096">
              <a:extLst>
                <a:ext uri="{FF2B5EF4-FFF2-40B4-BE49-F238E27FC236}">
                  <a16:creationId xmlns:a16="http://schemas.microsoft.com/office/drawing/2014/main" id="{5A21BBE9-F27C-4322-806D-BE4E6250E7AF}"/>
                </a:ext>
              </a:extLst>
            </p:cNvPr>
            <p:cNvSpPr/>
            <p:nvPr/>
          </p:nvSpPr>
          <p:spPr>
            <a:xfrm rot="16200000">
              <a:off x="4747652" y="4382708"/>
              <a:ext cx="226577" cy="210393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95" name="타원 1094">
              <a:extLst>
                <a:ext uri="{FF2B5EF4-FFF2-40B4-BE49-F238E27FC236}">
                  <a16:creationId xmlns:a16="http://schemas.microsoft.com/office/drawing/2014/main" id="{31AE9A49-D13E-463E-B82E-0ACA64BE47BB}"/>
                </a:ext>
              </a:extLst>
            </p:cNvPr>
            <p:cNvSpPr/>
            <p:nvPr/>
          </p:nvSpPr>
          <p:spPr>
            <a:xfrm rot="16200000">
              <a:off x="6506152" y="4382708"/>
              <a:ext cx="226577" cy="21039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cxnSp>
          <p:nvCxnSpPr>
            <p:cNvPr id="97" name="직선 화살표 연결선 6">
              <a:extLst>
                <a:ext uri="{FF2B5EF4-FFF2-40B4-BE49-F238E27FC236}">
                  <a16:creationId xmlns:a16="http://schemas.microsoft.com/office/drawing/2014/main" id="{0A767563-A090-4EFF-A15F-B053EC0F080E}"/>
                </a:ext>
              </a:extLst>
            </p:cNvPr>
            <p:cNvCxnSpPr>
              <a:cxnSpLocks/>
              <a:stCxn id="87" idx="6"/>
              <a:endCxn id="89" idx="2"/>
            </p:cNvCxnSpPr>
            <p:nvPr/>
          </p:nvCxnSpPr>
          <p:spPr>
            <a:xfrm>
              <a:off x="2131703" y="4507689"/>
              <a:ext cx="18033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직선 화살표 연결선 6">
              <a:extLst>
                <a:ext uri="{FF2B5EF4-FFF2-40B4-BE49-F238E27FC236}">
                  <a16:creationId xmlns:a16="http://schemas.microsoft.com/office/drawing/2014/main" id="{9D8F0713-B0CE-454B-872D-993805A9BC82}"/>
                </a:ext>
              </a:extLst>
            </p:cNvPr>
            <p:cNvCxnSpPr>
              <a:cxnSpLocks/>
            </p:cNvCxnSpPr>
            <p:nvPr/>
          </p:nvCxnSpPr>
          <p:spPr>
            <a:xfrm>
              <a:off x="2538611" y="4507688"/>
              <a:ext cx="18033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직선 화살표 연결선 6">
              <a:extLst>
                <a:ext uri="{FF2B5EF4-FFF2-40B4-BE49-F238E27FC236}">
                  <a16:creationId xmlns:a16="http://schemas.microsoft.com/office/drawing/2014/main" id="{B94E2EF3-3C3E-45A9-AFD9-7A6597B8598E}"/>
                </a:ext>
              </a:extLst>
            </p:cNvPr>
            <p:cNvCxnSpPr>
              <a:cxnSpLocks/>
              <a:endCxn id="93" idx="0"/>
            </p:cNvCxnSpPr>
            <p:nvPr/>
          </p:nvCxnSpPr>
          <p:spPr>
            <a:xfrm>
              <a:off x="4956339" y="4487904"/>
              <a:ext cx="68098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직선 화살표 연결선 6">
              <a:extLst>
                <a:ext uri="{FF2B5EF4-FFF2-40B4-BE49-F238E27FC236}">
                  <a16:creationId xmlns:a16="http://schemas.microsoft.com/office/drawing/2014/main" id="{794E4934-693E-4393-B514-3BCAB261A1D9}"/>
                </a:ext>
              </a:extLst>
            </p:cNvPr>
            <p:cNvCxnSpPr>
              <a:cxnSpLocks/>
              <a:endCxn id="95" idx="0"/>
            </p:cNvCxnSpPr>
            <p:nvPr/>
          </p:nvCxnSpPr>
          <p:spPr>
            <a:xfrm>
              <a:off x="5828115" y="4487218"/>
              <a:ext cx="686129" cy="68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오른쪽 화살표[R] 33">
              <a:extLst>
                <a:ext uri="{FF2B5EF4-FFF2-40B4-BE49-F238E27FC236}">
                  <a16:creationId xmlns:a16="http://schemas.microsoft.com/office/drawing/2014/main" id="{0408C24A-74D3-4422-A390-E5463B8CDB15}"/>
                </a:ext>
              </a:extLst>
            </p:cNvPr>
            <p:cNvSpPr/>
            <p:nvPr/>
          </p:nvSpPr>
          <p:spPr>
            <a:xfrm>
              <a:off x="7623928" y="3435097"/>
              <a:ext cx="1416816" cy="497436"/>
            </a:xfrm>
            <a:prstGeom prst="rightArrow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cxnSp>
          <p:nvCxnSpPr>
            <p:cNvPr id="80" name="꺾인 연결선[E] 1226">
              <a:extLst>
                <a:ext uri="{FF2B5EF4-FFF2-40B4-BE49-F238E27FC236}">
                  <a16:creationId xmlns:a16="http://schemas.microsoft.com/office/drawing/2014/main" id="{5F10AF7D-A69A-4133-85FE-17A82D2C6E36}"/>
                </a:ext>
              </a:extLst>
            </p:cNvPr>
            <p:cNvCxnSpPr>
              <a:cxnSpLocks/>
              <a:stCxn id="95" idx="4"/>
              <a:endCxn id="94" idx="7"/>
            </p:cNvCxnSpPr>
            <p:nvPr/>
          </p:nvCxnSpPr>
          <p:spPr>
            <a:xfrm flipH="1" flipV="1">
              <a:off x="4786555" y="4407797"/>
              <a:ext cx="1938082" cy="80107"/>
            </a:xfrm>
            <a:prstGeom prst="bentConnector5">
              <a:avLst>
                <a:gd name="adj1" fmla="val -11795"/>
                <a:gd name="adj2" fmla="val 416688"/>
                <a:gd name="adj3" fmla="val 111795"/>
              </a:avLst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직사각형 1098">
              <a:extLst>
                <a:ext uri="{FF2B5EF4-FFF2-40B4-BE49-F238E27FC236}">
                  <a16:creationId xmlns:a16="http://schemas.microsoft.com/office/drawing/2014/main" id="{BF8906F1-6BD6-4FA3-87A1-16F1B7EFCE57}"/>
                </a:ext>
              </a:extLst>
            </p:cNvPr>
            <p:cNvSpPr/>
            <p:nvPr/>
          </p:nvSpPr>
          <p:spPr>
            <a:xfrm>
              <a:off x="8888925" y="5192111"/>
              <a:ext cx="235241" cy="20374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b="1" dirty="0"/>
            </a:p>
          </p:txBody>
        </p:sp>
        <p:sp>
          <p:nvSpPr>
            <p:cNvPr id="110" name="직사각형 1099">
              <a:extLst>
                <a:ext uri="{FF2B5EF4-FFF2-40B4-BE49-F238E27FC236}">
                  <a16:creationId xmlns:a16="http://schemas.microsoft.com/office/drawing/2014/main" id="{BAEC8095-FA30-4C88-A03E-7BA13EDA99C0}"/>
                </a:ext>
              </a:extLst>
            </p:cNvPr>
            <p:cNvSpPr/>
            <p:nvPr/>
          </p:nvSpPr>
          <p:spPr>
            <a:xfrm>
              <a:off x="8888925" y="5591074"/>
              <a:ext cx="235241" cy="20374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b="1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094A8E5-22D7-41AD-9F6D-1FB918D28A83}"/>
                </a:ext>
              </a:extLst>
            </p:cNvPr>
            <p:cNvSpPr txBox="1"/>
            <p:nvPr/>
          </p:nvSpPr>
          <p:spPr>
            <a:xfrm>
              <a:off x="9125477" y="5119799"/>
              <a:ext cx="22283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DtoH</a:t>
              </a:r>
              <a:r>
                <a:rPr lang="en-US" altLang="ko-KR" dirty="0"/>
                <a:t> Copy</a:t>
              </a:r>
              <a:endParaRPr kumimoji="1" lang="ko-Kore-KR" altLang="en-US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9BE7B14-E5E6-49CB-854F-F005F48CFF97}"/>
                </a:ext>
              </a:extLst>
            </p:cNvPr>
            <p:cNvSpPr txBox="1"/>
            <p:nvPr/>
          </p:nvSpPr>
          <p:spPr>
            <a:xfrm>
              <a:off x="9125477" y="5505791"/>
              <a:ext cx="22283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Accuracy Check</a:t>
              </a:r>
              <a:endParaRPr kumimoji="1" lang="ko-Kore-KR" altLang="en-US" dirty="0"/>
            </a:p>
          </p:txBody>
        </p:sp>
        <p:sp>
          <p:nvSpPr>
            <p:cNvPr id="113" name="직사각형 1098">
              <a:extLst>
                <a:ext uri="{FF2B5EF4-FFF2-40B4-BE49-F238E27FC236}">
                  <a16:creationId xmlns:a16="http://schemas.microsoft.com/office/drawing/2014/main" id="{CBBFF74A-8EB9-4BDA-A3F9-796F2814C4A6}"/>
                </a:ext>
              </a:extLst>
            </p:cNvPr>
            <p:cNvSpPr/>
            <p:nvPr/>
          </p:nvSpPr>
          <p:spPr>
            <a:xfrm>
              <a:off x="9448657" y="4345978"/>
              <a:ext cx="235241" cy="20374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b="1" dirty="0"/>
            </a:p>
          </p:txBody>
        </p:sp>
        <p:sp>
          <p:nvSpPr>
            <p:cNvPr id="114" name="직사각형 1099">
              <a:extLst>
                <a:ext uri="{FF2B5EF4-FFF2-40B4-BE49-F238E27FC236}">
                  <a16:creationId xmlns:a16="http://schemas.microsoft.com/office/drawing/2014/main" id="{1A8D29E8-4A70-4228-BB05-9BE1ED248E61}"/>
                </a:ext>
              </a:extLst>
            </p:cNvPr>
            <p:cNvSpPr/>
            <p:nvPr/>
          </p:nvSpPr>
          <p:spPr>
            <a:xfrm>
              <a:off x="9973609" y="4350528"/>
              <a:ext cx="235241" cy="20374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b="1" dirty="0"/>
            </a:p>
          </p:txBody>
        </p:sp>
        <p:cxnSp>
          <p:nvCxnSpPr>
            <p:cNvPr id="115" name="직선 화살표 연결선 6">
              <a:extLst>
                <a:ext uri="{FF2B5EF4-FFF2-40B4-BE49-F238E27FC236}">
                  <a16:creationId xmlns:a16="http://schemas.microsoft.com/office/drawing/2014/main" id="{A1363E65-A3AF-4488-AEBD-C3A84D3820DF}"/>
                </a:ext>
              </a:extLst>
            </p:cNvPr>
            <p:cNvCxnSpPr>
              <a:cxnSpLocks/>
              <a:endCxn id="114" idx="1"/>
            </p:cNvCxnSpPr>
            <p:nvPr/>
          </p:nvCxnSpPr>
          <p:spPr>
            <a:xfrm>
              <a:off x="9679566" y="4452400"/>
              <a:ext cx="2940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0" name="Content Placeholder 2">
            <a:extLst>
              <a:ext uri="{FF2B5EF4-FFF2-40B4-BE49-F238E27FC236}">
                <a16:creationId xmlns:a16="http://schemas.microsoft.com/office/drawing/2014/main" id="{7D0D57B0-3043-4F30-84B6-9B4894F29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518"/>
            <a:ext cx="10515600" cy="4723446"/>
          </a:xfrm>
        </p:spPr>
        <p:txBody>
          <a:bodyPr>
            <a:normAutofit/>
          </a:bodyPr>
          <a:lstStyle/>
          <a:p>
            <a:r>
              <a:rPr lang="en-US" altLang="ko-KR" dirty="0"/>
              <a:t>Naïve </a:t>
            </a:r>
            <a:r>
              <a:rPr lang="en-US" altLang="ko-KR" dirty="0" err="1"/>
              <a:t>imple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Average : 3211.6382ms</a:t>
            </a:r>
          </a:p>
          <a:p>
            <a:pPr lvl="1"/>
            <a:r>
              <a:rPr lang="en-US" altLang="ko-KR" dirty="0"/>
              <a:t>Precision</a:t>
            </a:r>
            <a:r>
              <a:rPr lang="ko-KR" altLang="en-US" dirty="0"/>
              <a:t>손실 </a:t>
            </a:r>
            <a:r>
              <a:rPr lang="en-US" altLang="ko-KR" dirty="0"/>
              <a:t>double </a:t>
            </a:r>
            <a:r>
              <a:rPr lang="ko-KR" altLang="en-US" dirty="0"/>
              <a:t>타입 보정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16525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 design ideas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7C6C-59EC-4436-BBC5-76CA00B13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Memory Hierarchy Maximization </a:t>
            </a:r>
          </a:p>
          <a:p>
            <a:pPr lvl="1"/>
            <a:r>
              <a:rPr lang="ko-KR" altLang="en-US" dirty="0"/>
              <a:t>메모리 특성에 맞춰 최적화</a:t>
            </a:r>
            <a:endParaRPr lang="en-US" altLang="ko-KR" dirty="0"/>
          </a:p>
          <a:p>
            <a:pPr lvl="2"/>
            <a:r>
              <a:rPr lang="en-US" altLang="ko-KR" dirty="0"/>
              <a:t>Shared Memory</a:t>
            </a:r>
            <a:r>
              <a:rPr lang="ko-KR" altLang="en-US" dirty="0"/>
              <a:t>와 </a:t>
            </a:r>
            <a:r>
              <a:rPr lang="en-US" altLang="ko-KR" dirty="0"/>
              <a:t>Constant Memory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2"/>
            <a:r>
              <a:rPr lang="en-US" altLang="ko-KR" dirty="0"/>
              <a:t>Coalesced access</a:t>
            </a:r>
            <a:r>
              <a:rPr lang="ko-KR" altLang="en-US" dirty="0"/>
              <a:t>을 위해 </a:t>
            </a:r>
            <a:r>
              <a:rPr lang="en-US" altLang="ko-KR" dirty="0"/>
              <a:t>SOA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/>
            <a:r>
              <a:rPr lang="en-US" altLang="ko-KR" dirty="0"/>
              <a:t>Sparsity &gt; 80% </a:t>
            </a:r>
            <a:r>
              <a:rPr lang="ko-KR" altLang="en-US" dirty="0"/>
              <a:t>처리 시 압축을 통해 연산 효율 증대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0030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7C6C-59EC-4436-BBC5-76CA00B13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Constant Memory </a:t>
            </a:r>
            <a:r>
              <a:rPr lang="ko-KR" altLang="en-US" dirty="0"/>
              <a:t>사용 </a:t>
            </a:r>
            <a:r>
              <a:rPr lang="en-US" altLang="ko-KR" dirty="0"/>
              <a:t>- Assignment step </a:t>
            </a:r>
          </a:p>
          <a:p>
            <a:pPr lvl="2"/>
            <a:r>
              <a:rPr lang="en-US" altLang="ko-KR" dirty="0"/>
              <a:t>Assignment </a:t>
            </a:r>
            <a:r>
              <a:rPr lang="ko-KR" altLang="en-US" dirty="0"/>
              <a:t>에서 사용되는 </a:t>
            </a:r>
            <a:r>
              <a:rPr lang="en-US" altLang="ko-KR" dirty="0"/>
              <a:t>Centroids </a:t>
            </a:r>
            <a:r>
              <a:rPr lang="ko-KR" altLang="en-US" dirty="0"/>
              <a:t>데이터는 </a:t>
            </a:r>
            <a:r>
              <a:rPr lang="en-US" altLang="ko-KR" dirty="0"/>
              <a:t>Read-Only.</a:t>
            </a:r>
          </a:p>
          <a:p>
            <a:pPr lvl="2"/>
            <a:r>
              <a:rPr lang="ko-KR" altLang="en-US" dirty="0"/>
              <a:t>각 </a:t>
            </a:r>
            <a:r>
              <a:rPr lang="en-US" altLang="ko-KR" dirty="0"/>
              <a:t>iteration </a:t>
            </a:r>
            <a:r>
              <a:rPr lang="ko-KR" altLang="en-US" dirty="0"/>
              <a:t>마다 </a:t>
            </a:r>
            <a:r>
              <a:rPr lang="en-US" altLang="ko-KR" dirty="0"/>
              <a:t>GPU</a:t>
            </a:r>
            <a:r>
              <a:rPr lang="ko-KR" altLang="en-US" dirty="0"/>
              <a:t>의 </a:t>
            </a:r>
            <a:r>
              <a:rPr lang="en-US" altLang="ko-KR" b="1" dirty="0"/>
              <a:t>Constant Memory (__constant__) </a:t>
            </a:r>
            <a:r>
              <a:rPr lang="ko-KR" altLang="en-US" dirty="0"/>
              <a:t>영역에 할당</a:t>
            </a:r>
            <a:r>
              <a:rPr lang="en-US" altLang="ko-KR" dirty="0"/>
              <a:t>. </a:t>
            </a:r>
          </a:p>
          <a:p>
            <a:pPr lvl="4"/>
            <a:r>
              <a:rPr lang="en-US" altLang="ko-KR" dirty="0"/>
              <a:t>__constant__ float </a:t>
            </a:r>
            <a:r>
              <a:rPr lang="en-US" altLang="ko-KR" dirty="0" err="1"/>
              <a:t>c_centroids</a:t>
            </a:r>
            <a:r>
              <a:rPr lang="en-US" altLang="ko-KR" dirty="0"/>
              <a:t>[N_CLUSTERS * MAX_FEATURES];</a:t>
            </a:r>
          </a:p>
          <a:p>
            <a:pPr lvl="4"/>
            <a:r>
              <a:rPr lang="en-US" altLang="ko-KR" dirty="0"/>
              <a:t>CUDA_CHECK(</a:t>
            </a:r>
            <a:r>
              <a:rPr lang="en-US" altLang="ko-KR" dirty="0" err="1"/>
              <a:t>cudaMemcpyToSymbol</a:t>
            </a:r>
            <a:r>
              <a:rPr lang="en-US" altLang="ko-KR" dirty="0"/>
              <a:t>(</a:t>
            </a:r>
            <a:r>
              <a:rPr lang="en-US" altLang="ko-KR" dirty="0" err="1"/>
              <a:t>c_centroids</a:t>
            </a:r>
            <a:r>
              <a:rPr lang="en-US" altLang="ko-KR" dirty="0"/>
              <a:t>, </a:t>
            </a:r>
            <a:r>
              <a:rPr lang="en-US" altLang="ko-KR" dirty="0" err="1"/>
              <a:t>d_centroids</a:t>
            </a:r>
            <a:r>
              <a:rPr lang="en-US" altLang="ko-KR" dirty="0"/>
              <a:t>, </a:t>
            </a:r>
            <a:r>
              <a:rPr lang="en-US" altLang="ko-KR" dirty="0" err="1"/>
              <a:t>centroid_size_float</a:t>
            </a:r>
            <a:r>
              <a:rPr lang="en-US" altLang="ko-KR" dirty="0"/>
              <a:t>));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Shared Memory Reduction - Compute New Centroids step</a:t>
            </a:r>
          </a:p>
          <a:p>
            <a:pPr lvl="1"/>
            <a:r>
              <a:rPr lang="ko-KR" altLang="en-US" dirty="0"/>
              <a:t>각 </a:t>
            </a:r>
            <a:r>
              <a:rPr lang="en-US" altLang="ko-KR" dirty="0"/>
              <a:t>point</a:t>
            </a:r>
            <a:r>
              <a:rPr lang="ko-KR" altLang="en-US" dirty="0"/>
              <a:t>가 속하는 </a:t>
            </a:r>
            <a:r>
              <a:rPr lang="en-US" altLang="ko-KR" dirty="0"/>
              <a:t>cluster</a:t>
            </a:r>
            <a:r>
              <a:rPr lang="ko-KR" altLang="en-US" dirty="0"/>
              <a:t>에 관한 정보를 블록 내 </a:t>
            </a:r>
            <a:r>
              <a:rPr lang="en-US" altLang="ko-KR" dirty="0"/>
              <a:t>Shared Memory</a:t>
            </a:r>
            <a:r>
              <a:rPr lang="ko-KR" altLang="en-US" dirty="0"/>
              <a:t>에 우선 누적 후 한번에 </a:t>
            </a:r>
            <a:r>
              <a:rPr lang="en-US" altLang="ko-KR" dirty="0"/>
              <a:t>add</a:t>
            </a:r>
          </a:p>
          <a:p>
            <a:pPr lvl="1"/>
            <a:r>
              <a:rPr lang="en-US" altLang="ko-KR" dirty="0"/>
              <a:t>Contention </a:t>
            </a:r>
            <a:r>
              <a:rPr lang="ko-KR" altLang="en-US" dirty="0"/>
              <a:t>최소화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91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7C6C-59EC-4436-BBC5-76CA00B13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altLang="ko-KR" dirty="0" err="1"/>
              <a:t>AoS</a:t>
            </a:r>
            <a:r>
              <a:rPr lang="en-US" altLang="ko-KR" dirty="0"/>
              <a:t> -&gt; </a:t>
            </a:r>
            <a:r>
              <a:rPr lang="en-US" altLang="ko-KR" dirty="0" err="1"/>
              <a:t>SoA</a:t>
            </a:r>
            <a:r>
              <a:rPr lang="en-US" altLang="ko-KR" dirty="0"/>
              <a:t> - Assignment step</a:t>
            </a:r>
          </a:p>
          <a:p>
            <a:pPr lvl="1"/>
            <a:r>
              <a:rPr lang="en-US" altLang="ko-KR" dirty="0" err="1"/>
              <a:t>Aos</a:t>
            </a:r>
            <a:r>
              <a:rPr lang="en-US" altLang="ko-KR" dirty="0"/>
              <a:t> : </a:t>
            </a:r>
            <a:r>
              <a:rPr lang="ko-KR" altLang="en-US" dirty="0"/>
              <a:t>데이터가 </a:t>
            </a:r>
            <a:r>
              <a:rPr lang="en-US" altLang="ko-KR" dirty="0"/>
              <a:t>[</a:t>
            </a:r>
            <a:r>
              <a:rPr lang="ko-KR" altLang="en-US" dirty="0"/>
              <a:t>샘플 </a:t>
            </a:r>
            <a:r>
              <a:rPr lang="en-US" altLang="ko-KR" dirty="0"/>
              <a:t>1 </a:t>
            </a:r>
            <a:r>
              <a:rPr lang="ko-KR" altLang="en-US" dirty="0"/>
              <a:t>전체</a:t>
            </a:r>
            <a:r>
              <a:rPr lang="en-US" altLang="ko-KR" dirty="0"/>
              <a:t>], [</a:t>
            </a:r>
            <a:r>
              <a:rPr lang="ko-KR" altLang="en-US" dirty="0"/>
              <a:t>샘플 </a:t>
            </a:r>
            <a:r>
              <a:rPr lang="en-US" altLang="ko-KR" dirty="0"/>
              <a:t>2 </a:t>
            </a:r>
            <a:r>
              <a:rPr lang="ko-KR" altLang="en-US" dirty="0"/>
              <a:t>전체</a:t>
            </a:r>
            <a:r>
              <a:rPr lang="en-US" altLang="ko-KR" dirty="0"/>
              <a:t>], ... </a:t>
            </a:r>
            <a:r>
              <a:rPr lang="ko-KR" altLang="en-US" dirty="0"/>
              <a:t>순서로 저장</a:t>
            </a:r>
            <a:r>
              <a:rPr lang="en-US" altLang="ko-KR" dirty="0"/>
              <a:t>. </a:t>
            </a:r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[x1, y1, z1, x2, y2, z2, ...])</a:t>
            </a:r>
          </a:p>
          <a:p>
            <a:pPr lvl="1"/>
            <a:r>
              <a:rPr lang="en-US" altLang="ko-KR" dirty="0" err="1"/>
              <a:t>SoA</a:t>
            </a:r>
            <a:r>
              <a:rPr lang="en-US" altLang="ko-KR" dirty="0"/>
              <a:t> : </a:t>
            </a:r>
            <a:r>
              <a:rPr lang="ko-KR" altLang="en-US" dirty="0"/>
              <a:t>데이터가 </a:t>
            </a:r>
            <a:r>
              <a:rPr lang="en-US" altLang="ko-KR" dirty="0"/>
              <a:t>[feature1 </a:t>
            </a:r>
            <a:r>
              <a:rPr lang="ko-KR" altLang="en-US" dirty="0"/>
              <a:t>배열</a:t>
            </a:r>
            <a:r>
              <a:rPr lang="en-US" altLang="ko-KR" dirty="0"/>
              <a:t>], [feature2 </a:t>
            </a:r>
            <a:r>
              <a:rPr lang="ko-KR" altLang="en-US" dirty="0"/>
              <a:t>배열</a:t>
            </a:r>
            <a:r>
              <a:rPr lang="en-US" altLang="ko-KR" dirty="0"/>
              <a:t>], ... </a:t>
            </a:r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: [x1, x2, ...], [y1, y2, ...], [z1, z2, ...]</a:t>
            </a:r>
          </a:p>
          <a:p>
            <a:pPr lvl="2"/>
            <a:r>
              <a:rPr lang="ko-KR" altLang="en-US" dirty="0"/>
              <a:t>각 </a:t>
            </a:r>
            <a:r>
              <a:rPr lang="en-US" altLang="ko-KR" dirty="0"/>
              <a:t>Thread</a:t>
            </a:r>
            <a:r>
              <a:rPr lang="ko-KR" altLang="en-US" dirty="0"/>
              <a:t>가 하나의 포인트를 담당하고 </a:t>
            </a:r>
            <a:r>
              <a:rPr lang="en-US" altLang="ko-KR" dirty="0"/>
              <a:t>Thread</a:t>
            </a:r>
            <a:r>
              <a:rPr lang="ko-KR" altLang="en-US" dirty="0"/>
              <a:t>들은 </a:t>
            </a:r>
            <a:r>
              <a:rPr lang="en-US" altLang="ko-KR" dirty="0"/>
              <a:t>x-&gt;y-&gt;z..</a:t>
            </a:r>
            <a:r>
              <a:rPr lang="ko-KR" altLang="en-US" dirty="0"/>
              <a:t>처럼 순차적으로 </a:t>
            </a:r>
            <a:r>
              <a:rPr lang="en-US" altLang="ko-KR" dirty="0"/>
              <a:t>centroid</a:t>
            </a:r>
            <a:r>
              <a:rPr lang="ko-KR" altLang="en-US" dirty="0"/>
              <a:t>와의 거리 계산</a:t>
            </a:r>
            <a:r>
              <a:rPr lang="en-US" altLang="ko-KR" dirty="0"/>
              <a:t>.</a:t>
            </a:r>
          </a:p>
        </p:txBody>
      </p:sp>
      <p:pic>
        <p:nvPicPr>
          <p:cNvPr id="6146" name="Picture 2" descr="Array of Structures 와 Structure of Arrays">
            <a:extLst>
              <a:ext uri="{FF2B5EF4-FFF2-40B4-BE49-F238E27FC236}">
                <a16:creationId xmlns:a16="http://schemas.microsoft.com/office/drawing/2014/main" id="{26AEDCBC-D323-403F-878F-E8FC3270C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169" y="5246020"/>
            <a:ext cx="5438775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84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7C6C-59EC-4436-BBC5-76CA00B13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altLang="ko-KR" dirty="0"/>
              <a:t>1~3</a:t>
            </a:r>
            <a:r>
              <a:rPr lang="ko-KR" altLang="en-US" dirty="0"/>
              <a:t>적용시 </a:t>
            </a:r>
            <a:r>
              <a:rPr lang="en-US" altLang="ko-KR" dirty="0"/>
              <a:t>Naïve </a:t>
            </a:r>
            <a:r>
              <a:rPr lang="ko-KR" altLang="en-US" dirty="0"/>
              <a:t>대비 개선</a:t>
            </a:r>
            <a:endParaRPr lang="en-US" altLang="ko-KR" dirty="0"/>
          </a:p>
          <a:p>
            <a:pPr marL="776287" lvl="1" indent="-514350"/>
            <a:r>
              <a:rPr lang="en-US" altLang="ko-KR" dirty="0" err="1"/>
              <a:t>assignClusterKernel</a:t>
            </a:r>
            <a:r>
              <a:rPr lang="ko-KR" altLang="en-US" dirty="0"/>
              <a:t> </a:t>
            </a:r>
            <a:r>
              <a:rPr lang="en-US" altLang="ko-KR" b="1" dirty="0"/>
              <a:t>191.5 </a:t>
            </a:r>
            <a:r>
              <a:rPr lang="en-US" altLang="ko-KR" b="1" dirty="0" err="1"/>
              <a:t>ms</a:t>
            </a:r>
            <a:r>
              <a:rPr lang="en-US" altLang="ko-KR" b="1" dirty="0"/>
              <a:t> -&gt; 45.3 </a:t>
            </a:r>
            <a:r>
              <a:rPr lang="en-US" altLang="ko-KR" b="1" dirty="0" err="1"/>
              <a:t>ms</a:t>
            </a:r>
            <a:endParaRPr lang="en-US" altLang="ko-KR" b="1" dirty="0"/>
          </a:p>
          <a:p>
            <a:pPr marL="776287" lvl="1" indent="-514350"/>
            <a:r>
              <a:rPr lang="en-US" altLang="ko-KR" dirty="0" err="1"/>
              <a:t>computeNewCentroidsKernel</a:t>
            </a:r>
            <a:r>
              <a:rPr lang="en-US" altLang="ko-KR" dirty="0"/>
              <a:t> </a:t>
            </a:r>
            <a:r>
              <a:rPr lang="en-US" altLang="ko-KR" b="1" dirty="0"/>
              <a:t>323.3 </a:t>
            </a:r>
            <a:r>
              <a:rPr lang="en-US" altLang="ko-KR" b="1" dirty="0" err="1"/>
              <a:t>ms</a:t>
            </a:r>
            <a:r>
              <a:rPr lang="en-US" altLang="ko-KR" b="1" dirty="0"/>
              <a:t>-&gt; 17.1ms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49673-FD2B-4638-9E38-5ED9C1E93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001" y="3372740"/>
            <a:ext cx="4667954" cy="31438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8E4358-D248-4939-B5F0-AE57CFD3E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532" y="3316482"/>
            <a:ext cx="5750623" cy="3256401"/>
          </a:xfrm>
          <a:prstGeom prst="rect">
            <a:avLst/>
          </a:prstGeom>
        </p:spPr>
      </p:pic>
      <p:sp>
        <p:nvSpPr>
          <p:cNvPr id="7" name="오른쪽 화살표[R] 33">
            <a:extLst>
              <a:ext uri="{FF2B5EF4-FFF2-40B4-BE49-F238E27FC236}">
                <a16:creationId xmlns:a16="http://schemas.microsoft.com/office/drawing/2014/main" id="{08EFF343-7688-49DB-BC14-1A687208DE9B}"/>
              </a:ext>
            </a:extLst>
          </p:cNvPr>
          <p:cNvSpPr/>
          <p:nvPr/>
        </p:nvSpPr>
        <p:spPr>
          <a:xfrm>
            <a:off x="6354951" y="4695963"/>
            <a:ext cx="621050" cy="497436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869538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7C6C-59EC-4436-BBC5-76CA00B13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altLang="ko-KR" dirty="0"/>
              <a:t>CSR </a:t>
            </a:r>
            <a:r>
              <a:rPr lang="ko-KR" altLang="en-US" dirty="0"/>
              <a:t>적용</a:t>
            </a:r>
            <a:endParaRPr lang="en-US" altLang="ko-KR" dirty="0"/>
          </a:p>
          <a:p>
            <a:pPr marL="776287" lvl="1" indent="-514350"/>
            <a:r>
              <a:rPr lang="en-US" altLang="ko-KR" dirty="0"/>
              <a:t>Data</a:t>
            </a:r>
            <a:r>
              <a:rPr lang="ko-KR" altLang="en-US" dirty="0"/>
              <a:t>가 </a:t>
            </a:r>
            <a:r>
              <a:rPr lang="en-US" altLang="ko-KR" dirty="0"/>
              <a:t>sparse</a:t>
            </a:r>
            <a:r>
              <a:rPr lang="ko-KR" altLang="en-US" dirty="0"/>
              <a:t>하면 </a:t>
            </a:r>
            <a:r>
              <a:rPr lang="en-US" altLang="ko-KR" dirty="0" err="1"/>
              <a:t>csr</a:t>
            </a:r>
            <a:r>
              <a:rPr lang="en-US" altLang="ko-KR" dirty="0"/>
              <a:t> format</a:t>
            </a:r>
            <a:r>
              <a:rPr lang="ko-KR" altLang="en-US" dirty="0"/>
              <a:t>으로 </a:t>
            </a:r>
            <a:r>
              <a:rPr lang="en-US" altLang="ko-KR" dirty="0"/>
              <a:t>host</a:t>
            </a:r>
            <a:r>
              <a:rPr lang="ko-KR" altLang="en-US" dirty="0"/>
              <a:t>에서 변경 후 연산</a:t>
            </a:r>
            <a:r>
              <a:rPr lang="en-US" altLang="ko-KR" dirty="0"/>
              <a:t>.</a:t>
            </a:r>
          </a:p>
          <a:p>
            <a:pPr marL="776287" lvl="1" indent="-514350"/>
            <a:r>
              <a:rPr lang="en-US" altLang="ko-KR" dirty="0"/>
              <a:t>0</a:t>
            </a:r>
            <a:r>
              <a:rPr lang="ko-KR" altLang="en-US" dirty="0"/>
              <a:t>인 값들에 대한 연산횟수 감소 및 효율적 연산 가능</a:t>
            </a:r>
            <a:endParaRPr lang="en-US" altLang="ko-KR" dirty="0"/>
          </a:p>
          <a:p>
            <a:pPr marL="776287" lvl="1" indent="-514350"/>
            <a:endParaRPr lang="en-US" altLang="ko-KR" dirty="0"/>
          </a:p>
          <a:p>
            <a:pPr marL="776287" lvl="1" indent="-514350"/>
            <a:endParaRPr lang="en-US" altLang="ko-KR" dirty="0"/>
          </a:p>
          <a:p>
            <a:pPr marL="776287" lvl="1" indent="-514350"/>
            <a:r>
              <a:rPr lang="en-US" altLang="ko-KR" dirty="0"/>
              <a:t>1,2</a:t>
            </a:r>
            <a:r>
              <a:rPr lang="ko-KR" altLang="en-US" dirty="0"/>
              <a:t>번 항은 한번씩만 계산 후 활용</a:t>
            </a:r>
            <a:r>
              <a:rPr lang="en-US" altLang="ko-KR" dirty="0"/>
              <a:t> .</a:t>
            </a:r>
          </a:p>
          <a:p>
            <a:pPr marL="776287" lvl="1" indent="-514350"/>
            <a:r>
              <a:rPr lang="en-US" altLang="ko-KR" dirty="0"/>
              <a:t>Data</a:t>
            </a:r>
            <a:r>
              <a:rPr lang="ko-KR" altLang="en-US" dirty="0"/>
              <a:t>에서 </a:t>
            </a:r>
            <a:r>
              <a:rPr lang="en-US" altLang="ko-KR" dirty="0"/>
              <a:t>feature </a:t>
            </a:r>
            <a:r>
              <a:rPr lang="ko-KR" altLang="en-US" dirty="0"/>
              <a:t>값이 </a:t>
            </a:r>
            <a:r>
              <a:rPr lang="en-US" altLang="ko-KR" dirty="0"/>
              <a:t>0</a:t>
            </a:r>
            <a:r>
              <a:rPr lang="ko-KR" altLang="en-US" dirty="0"/>
              <a:t>인경우는 </a:t>
            </a:r>
            <a:r>
              <a:rPr lang="en-US" altLang="ko-KR" dirty="0"/>
              <a:t>3</a:t>
            </a:r>
            <a:r>
              <a:rPr lang="ko-KR" altLang="en-US" dirty="0"/>
              <a:t>번항에서 계산할 필요가없다</a:t>
            </a:r>
            <a:r>
              <a:rPr lang="en-US" altLang="ko-KR" dirty="0"/>
              <a:t>.</a:t>
            </a:r>
          </a:p>
          <a:p>
            <a:pPr marL="776287" lvl="1" indent="-514350"/>
            <a:endParaRPr lang="en-US" altLang="ko-KR" dirty="0"/>
          </a:p>
          <a:p>
            <a:pPr marL="776287" lvl="1" indent="-514350"/>
            <a:r>
              <a:rPr lang="en-US" altLang="ko-KR" dirty="0"/>
              <a:t>But</a:t>
            </a:r>
            <a:r>
              <a:rPr lang="ko-KR" altLang="en-US" dirty="0"/>
              <a:t> </a:t>
            </a:r>
            <a:r>
              <a:rPr lang="en-US" altLang="ko-KR" dirty="0"/>
              <a:t>Dense</a:t>
            </a:r>
            <a:r>
              <a:rPr lang="ko-KR" altLang="en-US" dirty="0"/>
              <a:t>의 경우 오히려 느려짐</a:t>
            </a:r>
            <a:r>
              <a:rPr lang="en-US" altLang="ko-KR" dirty="0"/>
              <a:t>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9FBB1C-721F-4820-8DE7-62501ED84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155" y="3221549"/>
            <a:ext cx="2209914" cy="704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085A16-CB4B-4AF9-AA50-850C76869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723" y="3221549"/>
            <a:ext cx="3352972" cy="762039"/>
          </a:xfrm>
          <a:prstGeom prst="rect">
            <a:avLst/>
          </a:prstGeom>
        </p:spPr>
      </p:pic>
      <p:sp>
        <p:nvSpPr>
          <p:cNvPr id="15" name="오른쪽 화살표[R] 33">
            <a:extLst>
              <a:ext uri="{FF2B5EF4-FFF2-40B4-BE49-F238E27FC236}">
                <a16:creationId xmlns:a16="http://schemas.microsoft.com/office/drawing/2014/main" id="{48B4F807-3F0C-4EF4-AE9E-22DD6DB5C49F}"/>
              </a:ext>
            </a:extLst>
          </p:cNvPr>
          <p:cNvSpPr/>
          <p:nvPr/>
        </p:nvSpPr>
        <p:spPr>
          <a:xfrm>
            <a:off x="5184794" y="3317805"/>
            <a:ext cx="911204" cy="497436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9573D9-296D-4E4C-916F-6982C649FB71}"/>
              </a:ext>
            </a:extLst>
          </p:cNvPr>
          <p:cNvSpPr/>
          <p:nvPr/>
        </p:nvSpPr>
        <p:spPr>
          <a:xfrm>
            <a:off x="8348263" y="3317805"/>
            <a:ext cx="1130784" cy="665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765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7C6C-59EC-4436-BBC5-76CA00B13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altLang="ko-KR" dirty="0"/>
              <a:t>CSR </a:t>
            </a:r>
            <a:r>
              <a:rPr lang="ko-KR" altLang="en-US" dirty="0"/>
              <a:t>적용</a:t>
            </a:r>
            <a:endParaRPr lang="en-US" altLang="ko-KR" dirty="0"/>
          </a:p>
          <a:p>
            <a:pPr marL="776287" lvl="1" indent="-514350"/>
            <a:r>
              <a:rPr lang="ko-KR" altLang="en-US" dirty="0"/>
              <a:t>전후 </a:t>
            </a:r>
            <a:r>
              <a:rPr lang="en-US" altLang="ko-KR" dirty="0" err="1"/>
              <a:t>assignClusterKernel</a:t>
            </a:r>
            <a:r>
              <a:rPr lang="en-US" altLang="ko-KR" dirty="0"/>
              <a:t> 1</a:t>
            </a:r>
            <a:r>
              <a:rPr lang="ko-KR" altLang="en-US" dirty="0"/>
              <a:t>회 연산 시간 </a:t>
            </a:r>
            <a:r>
              <a:rPr lang="en-US" altLang="ko-KR" b="1" dirty="0"/>
              <a:t>45.3ms -&gt; 21.0ms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889337-6977-4BBD-876D-37203663B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220" y="3228863"/>
            <a:ext cx="4124208" cy="2824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D567B5-87E1-4CEC-AB01-01E0162D9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132" y="3228863"/>
            <a:ext cx="4207934" cy="3072038"/>
          </a:xfrm>
          <a:prstGeom prst="rect">
            <a:avLst/>
          </a:prstGeom>
        </p:spPr>
      </p:pic>
      <p:sp>
        <p:nvSpPr>
          <p:cNvPr id="11" name="오른쪽 화살표[R] 33">
            <a:extLst>
              <a:ext uri="{FF2B5EF4-FFF2-40B4-BE49-F238E27FC236}">
                <a16:creationId xmlns:a16="http://schemas.microsoft.com/office/drawing/2014/main" id="{ED3884F4-4CF0-46D0-84F6-0F778F1D957E}"/>
              </a:ext>
            </a:extLst>
          </p:cNvPr>
          <p:cNvSpPr/>
          <p:nvPr/>
        </p:nvSpPr>
        <p:spPr>
          <a:xfrm>
            <a:off x="5981541" y="4392227"/>
            <a:ext cx="911204" cy="497436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847527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AD36D-B5AD-43DE-9C5C-1D68E9C210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140"/>
          <a:stretch/>
        </p:blipFill>
        <p:spPr>
          <a:xfrm>
            <a:off x="1812185" y="1870682"/>
            <a:ext cx="8567630" cy="413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51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163507-D71A-4FE6-8586-5A03080D6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184019"/>
              </p:ext>
            </p:extLst>
          </p:nvPr>
        </p:nvGraphicFramePr>
        <p:xfrm>
          <a:off x="2728079" y="2391094"/>
          <a:ext cx="6436862" cy="38768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84180">
                  <a:extLst>
                    <a:ext uri="{9D8B030D-6E8A-4147-A177-3AD203B41FA5}">
                      <a16:colId xmlns:a16="http://schemas.microsoft.com/office/drawing/2014/main" val="1482347279"/>
                    </a:ext>
                  </a:extLst>
                </a:gridCol>
                <a:gridCol w="2767616">
                  <a:extLst>
                    <a:ext uri="{9D8B030D-6E8A-4147-A177-3AD203B41FA5}">
                      <a16:colId xmlns:a16="http://schemas.microsoft.com/office/drawing/2014/main" val="783450096"/>
                    </a:ext>
                  </a:extLst>
                </a:gridCol>
                <a:gridCol w="1785066">
                  <a:extLst>
                    <a:ext uri="{9D8B030D-6E8A-4147-A177-3AD203B41FA5}">
                      <a16:colId xmlns:a16="http://schemas.microsoft.com/office/drawing/2014/main" val="3477091253"/>
                    </a:ext>
                  </a:extLst>
                </a:gridCol>
              </a:tblGrid>
              <a:tr h="6375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Implementation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Average Execution Time (</a:t>
                      </a:r>
                      <a:r>
                        <a:rPr lang="en-US" sz="16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ms</a:t>
                      </a: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Speedup vs CPU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85426192"/>
                  </a:ext>
                </a:extLst>
              </a:tr>
              <a:tr h="6778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CSR Format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462.45 </a:t>
                      </a:r>
                      <a:r>
                        <a:rPr lang="en-US" sz="1600" b="1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ms</a:t>
                      </a:r>
                      <a:endParaRPr lang="en-US" sz="16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53.10x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11273727"/>
                  </a:ext>
                </a:extLst>
              </a:tr>
              <a:tr h="6375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cuML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993.25 </a:t>
                      </a:r>
                      <a:r>
                        <a:rPr lang="en-US" sz="16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ms</a:t>
                      </a:r>
                      <a:endParaRPr lang="en-US" sz="16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24.72x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46556820"/>
                  </a:ext>
                </a:extLst>
              </a:tr>
              <a:tr h="6474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Optimezed with SoA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1679.87 </a:t>
                      </a:r>
                      <a:r>
                        <a:rPr lang="en-US" sz="16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ms</a:t>
                      </a:r>
                      <a:endParaRPr lang="en-US" sz="16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14.62x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92256684"/>
                  </a:ext>
                </a:extLst>
              </a:tr>
              <a:tr h="6387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naive cuda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3650.78 ms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6.73x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29971208"/>
                  </a:ext>
                </a:extLst>
              </a:tr>
              <a:tr h="6375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sklearn(cpu)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24556.43 </a:t>
                      </a:r>
                      <a:r>
                        <a:rPr lang="en-US" sz="16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ms</a:t>
                      </a:r>
                      <a:endParaRPr lang="en-US" sz="16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1.00x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19944002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300922-7A7F-4ADC-8842-DE1810A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518"/>
            <a:ext cx="10515600" cy="4723446"/>
          </a:xfrm>
        </p:spPr>
        <p:txBody>
          <a:bodyPr>
            <a:normAutofit/>
          </a:bodyPr>
          <a:lstStyle/>
          <a:p>
            <a:r>
              <a:rPr lang="en-US" altLang="ko-KR" dirty="0"/>
              <a:t>CSR</a:t>
            </a:r>
            <a:r>
              <a:rPr lang="ko-KR" altLang="en-US" dirty="0"/>
              <a:t> 적용시 가장 좋은 결과 달성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4848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Limitation</a:t>
            </a:r>
            <a:endParaRPr lang="ko-KR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59C1B0-9666-44B7-A43F-025BED28C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667906"/>
              </p:ext>
            </p:extLst>
          </p:nvPr>
        </p:nvGraphicFramePr>
        <p:xfrm>
          <a:off x="2116733" y="2642314"/>
          <a:ext cx="7958535" cy="26004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66656">
                  <a:extLst>
                    <a:ext uri="{9D8B030D-6E8A-4147-A177-3AD203B41FA5}">
                      <a16:colId xmlns:a16="http://schemas.microsoft.com/office/drawing/2014/main" val="1482347279"/>
                    </a:ext>
                  </a:extLst>
                </a:gridCol>
                <a:gridCol w="1706065">
                  <a:extLst>
                    <a:ext uri="{9D8B030D-6E8A-4147-A177-3AD203B41FA5}">
                      <a16:colId xmlns:a16="http://schemas.microsoft.com/office/drawing/2014/main" val="783450096"/>
                    </a:ext>
                  </a:extLst>
                </a:gridCol>
                <a:gridCol w="4285814">
                  <a:extLst>
                    <a:ext uri="{9D8B030D-6E8A-4147-A177-3AD203B41FA5}">
                      <a16:colId xmlns:a16="http://schemas.microsoft.com/office/drawing/2014/main" val="3477091253"/>
                    </a:ext>
                  </a:extLst>
                </a:gridCol>
              </a:tblGrid>
              <a:tr h="637563"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  <a:latin typeface="Google Sans Text"/>
                        </a:rPr>
                        <a:t>항목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평균 시간 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ms)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 dirty="0">
                          <a:effectLst/>
                          <a:latin typeface="Google Sans Text"/>
                        </a:rPr>
                        <a:t>상세 분석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426192"/>
                  </a:ext>
                </a:extLst>
              </a:tr>
              <a:tr h="6778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dirty="0"/>
                        <a:t>Sparsity Analysis Time</a:t>
                      </a:r>
                      <a:endParaRPr lang="en-US" sz="16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346 </a:t>
                      </a:r>
                      <a:r>
                        <a:rPr lang="en-US" sz="1600" b="1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ms</a:t>
                      </a:r>
                      <a:endParaRPr lang="en-US" sz="16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dirty="0"/>
                        <a:t>Host- Sparsity </a:t>
                      </a:r>
                      <a:r>
                        <a:rPr lang="ko-KR" altLang="en-US" sz="1600" dirty="0"/>
                        <a:t>계산에 소요</a:t>
                      </a:r>
                      <a:r>
                        <a:rPr lang="en-US" altLang="ko-KR" sz="1600" dirty="0"/>
                        <a:t>.</a:t>
                      </a:r>
                      <a:endParaRPr lang="en-US" sz="16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11273727"/>
                  </a:ext>
                </a:extLst>
              </a:tr>
              <a:tr h="6375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dirty="0"/>
                        <a:t>CSR Conversion Time</a:t>
                      </a:r>
                      <a:endParaRPr lang="en-US" sz="16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4192 </a:t>
                      </a:r>
                      <a:r>
                        <a:rPr lang="en-US" sz="16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ms</a:t>
                      </a:r>
                      <a:endParaRPr lang="en-US" sz="16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dirty="0"/>
                        <a:t>Host - CSR Mode </a:t>
                      </a:r>
                      <a:r>
                        <a:rPr lang="ko-KR" altLang="en-US" sz="1600" dirty="0"/>
                        <a:t>일 때만 발생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Dense </a:t>
                      </a:r>
                      <a:r>
                        <a:rPr lang="ko-KR" alt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포함 평균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2515ms</a:t>
                      </a:r>
                      <a:endParaRPr lang="en-US" sz="16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46556820"/>
                  </a:ext>
                </a:extLst>
              </a:tr>
              <a:tr h="6474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dirty="0"/>
                        <a:t>Execution Time (CUDA)</a:t>
                      </a:r>
                      <a:endParaRPr lang="en-US" sz="16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438 </a:t>
                      </a:r>
                      <a:r>
                        <a:rPr lang="en-US" sz="16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ms</a:t>
                      </a:r>
                      <a:endParaRPr lang="en-US" sz="16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dirty="0"/>
                        <a:t>Kernel - </a:t>
                      </a:r>
                      <a:r>
                        <a:rPr lang="ko-KR" altLang="en-US" sz="1600" dirty="0"/>
                        <a:t>순수 </a:t>
                      </a:r>
                      <a:r>
                        <a:rPr lang="en-US" altLang="ko-KR" sz="1600" dirty="0"/>
                        <a:t>GPU </a:t>
                      </a:r>
                      <a:r>
                        <a:rPr lang="ko-KR" altLang="en-US" sz="1600" dirty="0"/>
                        <a:t>컴퓨팅 시간</a:t>
                      </a:r>
                      <a:r>
                        <a:rPr lang="en-US" altLang="ko-KR" sz="1600" dirty="0"/>
                        <a:t>.</a:t>
                      </a:r>
                      <a:endParaRPr lang="en-US" sz="16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92256684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FEB8D3-AE69-4897-B1DE-318FF4C30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518"/>
            <a:ext cx="10515600" cy="4723446"/>
          </a:xfrm>
        </p:spPr>
        <p:txBody>
          <a:bodyPr>
            <a:normAutofit/>
          </a:bodyPr>
          <a:lstStyle/>
          <a:p>
            <a:r>
              <a:rPr lang="en-US" altLang="ko-KR" dirty="0"/>
              <a:t>CSR</a:t>
            </a:r>
            <a:r>
              <a:rPr lang="ko-KR" altLang="en-US" dirty="0"/>
              <a:t> 적용을 위한 부가적인 연산 시간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57689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C910-9DF1-486E-8B29-1D8FAFE2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C8D11BB-C8BC-488B-8887-B5815AD97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518"/>
            <a:ext cx="10515600" cy="4723446"/>
          </a:xfrm>
        </p:spPr>
        <p:txBody>
          <a:bodyPr>
            <a:normAutofit/>
          </a:bodyPr>
          <a:lstStyle/>
          <a:p>
            <a:r>
              <a:rPr lang="ko-KR" altLang="en-US" dirty="0"/>
              <a:t>데이터 특성을 통한 </a:t>
            </a:r>
            <a:r>
              <a:rPr lang="en-US" altLang="ko-KR" dirty="0" err="1"/>
              <a:t>SoA</a:t>
            </a:r>
            <a:r>
              <a:rPr lang="en-US" altLang="ko-KR" dirty="0"/>
              <a:t>, CSR format</a:t>
            </a:r>
            <a:r>
              <a:rPr lang="ko-KR" altLang="en-US" dirty="0"/>
              <a:t>이 가속에 매우 효과적이었음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전처리가 이미 되어있다면 </a:t>
            </a:r>
            <a:r>
              <a:rPr lang="en-US" altLang="ko-KR" dirty="0"/>
              <a:t>CSR</a:t>
            </a:r>
            <a:r>
              <a:rPr lang="ko-KR" altLang="en-US" dirty="0"/>
              <a:t>을 적용하는 것이 </a:t>
            </a:r>
            <a:r>
              <a:rPr lang="en-US" altLang="ko-KR" dirty="0" err="1"/>
              <a:t>cuML</a:t>
            </a:r>
            <a:r>
              <a:rPr lang="en-US" altLang="ko-KR" dirty="0"/>
              <a:t> </a:t>
            </a:r>
            <a:r>
              <a:rPr lang="ko-KR" altLang="en-US" dirty="0"/>
              <a:t>사용보다 우위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CUDA</a:t>
            </a:r>
            <a:r>
              <a:rPr lang="ko-KR" altLang="en-US" dirty="0"/>
              <a:t>를 통해 직접 가속화를 하면 </a:t>
            </a:r>
            <a:r>
              <a:rPr lang="en-US" altLang="ko-KR" dirty="0"/>
              <a:t>data</a:t>
            </a:r>
            <a:r>
              <a:rPr lang="ko-KR" altLang="en-US" dirty="0"/>
              <a:t>의 특성을 반영하기 좋고 </a:t>
            </a:r>
            <a:r>
              <a:rPr lang="en-US" altLang="ko-KR" dirty="0"/>
              <a:t>flexibility</a:t>
            </a:r>
            <a:r>
              <a:rPr lang="ko-KR" altLang="en-US" dirty="0"/>
              <a:t>가 높아짐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31120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B149C-25BE-F0FB-E86A-5E2D6B4EF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1399"/>
            <a:ext cx="9144000" cy="2453958"/>
          </a:xfrm>
        </p:spPr>
        <p:txBody>
          <a:bodyPr/>
          <a:lstStyle/>
          <a:p>
            <a:r>
              <a:rPr kumimoji="1" lang="en-US" altLang="ko-Kore-KR" b="1" dirty="0"/>
              <a:t>Reference Reproduce</a:t>
            </a:r>
            <a:br>
              <a:rPr kumimoji="1" lang="en-US" altLang="ko-Kore-KR" b="1" dirty="0"/>
            </a:br>
            <a:br>
              <a:rPr kumimoji="1" lang="en-US" altLang="ko-Kore-KR" b="1" dirty="0"/>
            </a:br>
            <a:r>
              <a:rPr kumimoji="1" lang="en-US" altLang="ko-Kore-KR" b="1" dirty="0"/>
              <a:t>Popcorn : Accelerating Kernel K-means on GPUs through Sparse Linear Algebra</a:t>
            </a:r>
            <a:endParaRPr kumimoji="1" lang="ko-Kore-KR" altLang="en-US" b="1" dirty="0"/>
          </a:p>
        </p:txBody>
      </p:sp>
    </p:spTree>
    <p:extLst>
      <p:ext uri="{BB962C8B-B14F-4D97-AF65-F5344CB8AC3E}">
        <p14:creationId xmlns:p14="http://schemas.microsoft.com/office/powerpoint/2010/main" val="3194798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A2CB0-4F96-ABCA-82ED-F2BF73F30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Popcorn </a:t>
            </a:r>
            <a:r>
              <a:rPr kumimoji="1" lang="en-US" altLang="en-US" dirty="0"/>
              <a:t>Reproduce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5963C-0833-01DD-2604-090DCE836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Abstract</a:t>
            </a:r>
          </a:p>
          <a:p>
            <a:pPr lvl="1"/>
            <a:r>
              <a:rPr lang="en-US" altLang="ko-KR" dirty="0"/>
              <a:t>Kernel K-means </a:t>
            </a:r>
            <a:r>
              <a:rPr lang="ko-KR" altLang="en-US" dirty="0"/>
              <a:t>최적화</a:t>
            </a:r>
            <a:endParaRPr lang="en-US" altLang="ko-KR" dirty="0"/>
          </a:p>
          <a:p>
            <a:pPr lvl="2"/>
            <a:r>
              <a:rPr lang="ko-KR" altLang="en-US" dirty="0"/>
              <a:t>데이터를 </a:t>
            </a:r>
            <a:r>
              <a:rPr lang="ko-KR" altLang="en-US" b="1" dirty="0"/>
              <a:t>비선형 함수 </a:t>
            </a:r>
            <a:r>
              <a:rPr lang="en-US" altLang="ko-KR" b="1" dirty="0"/>
              <a:t>ϕ(x)</a:t>
            </a:r>
            <a:r>
              <a:rPr lang="ko-KR" altLang="en-US" dirty="0"/>
              <a:t>로 고차원 공간에 보내 복잡한 형태의 군집도 잘 분리</a:t>
            </a:r>
            <a:endParaRPr lang="en-US" altLang="ko-KR" dirty="0"/>
          </a:p>
          <a:p>
            <a:pPr lvl="2"/>
            <a:r>
              <a:rPr kumimoji="1" lang="ko-KR" altLang="en-US" dirty="0"/>
              <a:t>이때 거리 행렬 </a:t>
            </a:r>
            <a:r>
              <a:rPr kumimoji="1" lang="en-US" altLang="ko-KR" dirty="0"/>
              <a:t>D (</a:t>
            </a:r>
            <a:r>
              <a:rPr kumimoji="1" lang="ko-KR" altLang="en-US" dirty="0"/>
              <a:t>각 점과 각 </a:t>
            </a:r>
            <a:r>
              <a:rPr kumimoji="1" lang="en-US" altLang="ko-KR" dirty="0"/>
              <a:t>centroid </a:t>
            </a:r>
            <a:r>
              <a:rPr kumimoji="1" lang="ko-KR" altLang="en-US" dirty="0"/>
              <a:t>사이의 제곱거리</a:t>
            </a:r>
            <a:r>
              <a:rPr kumimoji="1" lang="en-US" altLang="ko-KR" dirty="0"/>
              <a:t>)</a:t>
            </a:r>
            <a:r>
              <a:rPr kumimoji="1" lang="ko-KR" altLang="en-US" dirty="0"/>
              <a:t>는 다음으로 쓸 수 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D=−2 KV⊤+P~+C~ </a:t>
            </a:r>
          </a:p>
          <a:p>
            <a:pPr lvl="3"/>
            <a:r>
              <a:rPr kumimoji="1" lang="en-US" altLang="ko-KR" dirty="0"/>
              <a:t>K </a:t>
            </a:r>
            <a:r>
              <a:rPr kumimoji="1" lang="ko-KR" altLang="en-US" dirty="0"/>
              <a:t>커널행렬</a:t>
            </a:r>
            <a:r>
              <a:rPr kumimoji="1" lang="en-US" altLang="ko-KR" dirty="0"/>
              <a:t>, V </a:t>
            </a:r>
            <a:r>
              <a:rPr kumimoji="1" lang="ko-KR" altLang="en-US" dirty="0"/>
              <a:t>선택</a:t>
            </a:r>
            <a:r>
              <a:rPr kumimoji="1" lang="en-US" altLang="ko-KR" dirty="0"/>
              <a:t>/</a:t>
            </a:r>
            <a:r>
              <a:rPr kumimoji="1" lang="ko-KR" altLang="en-US" dirty="0"/>
              <a:t>정규화 된 희소행렬</a:t>
            </a:r>
            <a:endParaRPr kumimoji="1" lang="en-US" altLang="ko-KR" dirty="0"/>
          </a:p>
          <a:p>
            <a:pPr lvl="3"/>
            <a:r>
              <a:rPr kumimoji="1" lang="en-US" altLang="ko-KR" dirty="0"/>
              <a:t>P~</a:t>
            </a:r>
            <a:r>
              <a:rPr kumimoji="1" lang="ko-KR" altLang="en-US" dirty="0"/>
              <a:t>각점의 각 점의 ∥</a:t>
            </a:r>
            <a:r>
              <a:rPr kumimoji="1" lang="en-US" altLang="ko-KR" dirty="0"/>
              <a:t>ϕ(pi)∥^2</a:t>
            </a:r>
            <a:r>
              <a:rPr kumimoji="1" lang="ko-KR" altLang="en-US" dirty="0"/>
              <a:t>를 복제한 행렬</a:t>
            </a:r>
            <a:endParaRPr kumimoji="1" lang="en-US" altLang="ko-KR" dirty="0"/>
          </a:p>
          <a:p>
            <a:pPr lvl="3"/>
            <a:r>
              <a:rPr kumimoji="1" lang="en-US" altLang="ko-KR" dirty="0"/>
              <a:t>C~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centroids</a:t>
            </a:r>
            <a:r>
              <a:rPr kumimoji="1" lang="ko-KR" altLang="en-US" dirty="0"/>
              <a:t>의 노름 ∥</a:t>
            </a:r>
            <a:r>
              <a:rPr kumimoji="1" lang="en-US" altLang="ko-KR" dirty="0" err="1"/>
              <a:t>cj</a:t>
            </a:r>
            <a:r>
              <a:rPr kumimoji="1" lang="en-US" altLang="ko-KR" dirty="0"/>
              <a:t>∥^2</a:t>
            </a:r>
            <a:r>
              <a:rPr kumimoji="1" lang="ko-KR" altLang="en-US" dirty="0"/>
              <a:t>를 복제한 행렬</a:t>
            </a:r>
          </a:p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586098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A2CB0-4F96-ABCA-82ED-F2BF73F30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Popcorn </a:t>
            </a:r>
            <a:r>
              <a:rPr kumimoji="1" lang="en-US" altLang="en-US" dirty="0"/>
              <a:t>Reproduce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5963C-0833-01DD-2604-090DCE836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What to do to improve upon it?</a:t>
            </a:r>
          </a:p>
          <a:p>
            <a:pPr lvl="1"/>
            <a:r>
              <a:rPr lang="en-US" altLang="ko-KR" b="1" dirty="0"/>
              <a:t>Tensor Core </a:t>
            </a:r>
            <a:r>
              <a:rPr lang="ko-KR" altLang="en-US" b="1" dirty="0"/>
              <a:t>적극 </a:t>
            </a:r>
            <a:r>
              <a:rPr lang="ko-KR" altLang="en-US" dirty="0"/>
              <a:t>활용하기</a:t>
            </a:r>
            <a:endParaRPr lang="en-US" altLang="ko-KR" dirty="0"/>
          </a:p>
          <a:p>
            <a:pPr marL="1187450" lvl="2" indent="-457200">
              <a:buFont typeface="+mj-lt"/>
              <a:buAutoNum type="arabicPeriod"/>
            </a:pPr>
            <a:r>
              <a:rPr lang="en-US" altLang="ko-KR" b="1" dirty="0"/>
              <a:t>fp32</a:t>
            </a:r>
            <a:r>
              <a:rPr lang="ko-KR" altLang="en-US" b="1" dirty="0"/>
              <a:t>를 </a:t>
            </a:r>
            <a:r>
              <a:rPr lang="en-US" altLang="ko-KR" b="1" dirty="0"/>
              <a:t>fp16</a:t>
            </a:r>
            <a:r>
              <a:rPr lang="ko-KR" altLang="en-US" dirty="0"/>
              <a:t>으로 변환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exp, </a:t>
            </a:r>
            <a:r>
              <a:rPr lang="en-US" altLang="ko-KR" dirty="0" err="1"/>
              <a:t>mentisa</a:t>
            </a:r>
            <a:r>
              <a:rPr lang="en-US" altLang="ko-KR" dirty="0"/>
              <a:t> </a:t>
            </a:r>
            <a:r>
              <a:rPr lang="ko-KR" altLang="en-US" dirty="0"/>
              <a:t>를 전용 함수를 사용하여 변환</a:t>
            </a:r>
            <a:endParaRPr lang="en-US" altLang="ko-KR" dirty="0"/>
          </a:p>
          <a:p>
            <a:pPr marL="1187450" lvl="2" indent="-457200">
              <a:buFont typeface="+mj-lt"/>
              <a:buAutoNum type="arabicPeriod"/>
            </a:pPr>
            <a:r>
              <a:rPr lang="en-US" altLang="ko-KR" dirty="0" err="1"/>
              <a:t>cublas</a:t>
            </a:r>
            <a:r>
              <a:rPr lang="ko-KR" altLang="en-US" dirty="0"/>
              <a:t>에서 호출되는 함수를 </a:t>
            </a:r>
            <a:r>
              <a:rPr lang="en-US" altLang="ko-KR" dirty="0"/>
              <a:t>FP16</a:t>
            </a:r>
            <a:r>
              <a:rPr lang="ko-KR" altLang="en-US" dirty="0"/>
              <a:t>의 </a:t>
            </a:r>
            <a:r>
              <a:rPr lang="en-US" altLang="ko-KR" dirty="0"/>
              <a:t>tensor core</a:t>
            </a:r>
            <a:r>
              <a:rPr lang="ko-KR" altLang="en-US" dirty="0"/>
              <a:t>를 사용하는 버전으로 호출되게 변경</a:t>
            </a:r>
            <a:endParaRPr lang="en-US" altLang="ko-KR" dirty="0"/>
          </a:p>
          <a:p>
            <a:pPr marL="1187450" lvl="2" indent="-457200">
              <a:buFont typeface="+mj-lt"/>
              <a:buAutoNum type="arabicPeriod"/>
            </a:pPr>
            <a:r>
              <a:rPr lang="ko-KR" altLang="en-US" dirty="0"/>
              <a:t>커스텀 커널들도 필요에 따라서 </a:t>
            </a:r>
            <a:r>
              <a:rPr lang="en-US" altLang="ko-KR" dirty="0"/>
              <a:t>fp16 </a:t>
            </a:r>
            <a:r>
              <a:rPr lang="ko-KR" altLang="en-US" dirty="0"/>
              <a:t>버전으로 컨버전</a:t>
            </a:r>
            <a:endParaRPr lang="en-US" altLang="ko-KR" dirty="0"/>
          </a:p>
          <a:p>
            <a:pPr lvl="1"/>
            <a:r>
              <a:rPr lang="en-US" altLang="ko-KR" b="1" dirty="0"/>
              <a:t>BSR,</a:t>
            </a:r>
            <a:r>
              <a:rPr lang="ko-KR" altLang="en-US" b="1" dirty="0"/>
              <a:t> </a:t>
            </a:r>
            <a:r>
              <a:rPr lang="en-US" altLang="ko-KR" b="1" dirty="0"/>
              <a:t>RCM </a:t>
            </a:r>
            <a:r>
              <a:rPr lang="ko-KR" altLang="en-US" b="1" dirty="0"/>
              <a:t>알고리즘으로 재정렬을 통해 </a:t>
            </a:r>
            <a:r>
              <a:rPr lang="en-US" altLang="ko-KR" b="1" dirty="0"/>
              <a:t>locality </a:t>
            </a:r>
            <a:r>
              <a:rPr lang="ko-KR" altLang="en-US" b="1" dirty="0"/>
              <a:t>증가</a:t>
            </a:r>
            <a:r>
              <a:rPr lang="en-US" altLang="ko-KR" b="1" dirty="0"/>
              <a:t> </a:t>
            </a:r>
            <a:r>
              <a:rPr lang="ko-KR" altLang="en-US" dirty="0"/>
              <a:t>시키기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0671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A2CB0-4F96-ABCA-82ED-F2BF73F30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Popcorn </a:t>
            </a:r>
            <a:r>
              <a:rPr kumimoji="1" lang="en-US" altLang="en-US" dirty="0"/>
              <a:t>Reproduce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5963C-0833-01DD-2604-090DCE836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Build</a:t>
            </a:r>
            <a:r>
              <a:rPr lang="ko-KR" altLang="en-US" dirty="0"/>
              <a:t> 관련 문제</a:t>
            </a:r>
            <a:endParaRPr lang="en-US" altLang="ko-KR" dirty="0"/>
          </a:p>
          <a:p>
            <a:pPr lvl="1"/>
            <a:r>
              <a:rPr lang="en-US" altLang="ko-KR" dirty="0"/>
              <a:t>Dependency </a:t>
            </a:r>
            <a:r>
              <a:rPr lang="ko-KR" altLang="en-US" dirty="0"/>
              <a:t>설명 </a:t>
            </a:r>
            <a:r>
              <a:rPr lang="en-US" altLang="ko-KR" dirty="0"/>
              <a:t>x, </a:t>
            </a:r>
            <a:r>
              <a:rPr lang="en-US" altLang="ko-KR" dirty="0" err="1"/>
              <a:t>fmt</a:t>
            </a:r>
            <a:r>
              <a:rPr lang="en-US" altLang="ko-KR" dirty="0"/>
              <a:t> </a:t>
            </a:r>
            <a:r>
              <a:rPr lang="ko-KR" altLang="en-US" dirty="0"/>
              <a:t>와 다른 </a:t>
            </a:r>
            <a:r>
              <a:rPr lang="en-US" altLang="ko-KR" dirty="0"/>
              <a:t>lib</a:t>
            </a:r>
            <a:r>
              <a:rPr lang="ko-KR" altLang="en-US" dirty="0"/>
              <a:t>간 </a:t>
            </a:r>
            <a:r>
              <a:rPr lang="ko-KR" altLang="en-US" b="1" dirty="0"/>
              <a:t>충돌로 인한 빌드 오류</a:t>
            </a:r>
            <a:r>
              <a:rPr lang="en-US" altLang="ko-KR" b="1" dirty="0"/>
              <a:t>,</a:t>
            </a:r>
            <a:r>
              <a:rPr lang="en-US" altLang="ko-KR" dirty="0"/>
              <a:t> </a:t>
            </a:r>
            <a:r>
              <a:rPr lang="en-US" altLang="ko-KR" dirty="0" err="1"/>
              <a:t>Cmake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Build time 2</a:t>
            </a:r>
            <a:r>
              <a:rPr lang="ko-KR" altLang="en-US" dirty="0"/>
              <a:t>시간 이상</a:t>
            </a:r>
            <a:endParaRPr lang="en-US" altLang="ko-KR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DC6F6-7BE5-4ADA-8798-8F57C500A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954" y="4753570"/>
            <a:ext cx="7939690" cy="15248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D80A6A-938D-4A6D-9191-D02613FA6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954" y="3017042"/>
            <a:ext cx="7789333" cy="156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55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A2CB0-4F96-ABCA-82ED-F2BF73F30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Popcorn </a:t>
            </a:r>
            <a:r>
              <a:rPr kumimoji="1" lang="en-US" altLang="en-US" dirty="0"/>
              <a:t>Reproduce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5963C-0833-01DD-2604-090DCE836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Reproduce </a:t>
            </a:r>
            <a:r>
              <a:rPr lang="ko-KR" altLang="en-US" dirty="0"/>
              <a:t>실패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Naïve </a:t>
            </a:r>
            <a:r>
              <a:rPr lang="ko-KR" altLang="en-US" dirty="0"/>
              <a:t>버전 </a:t>
            </a:r>
            <a:endParaRPr lang="en-US" altLang="ko-KR" dirty="0"/>
          </a:p>
          <a:p>
            <a:pPr lvl="3"/>
            <a:r>
              <a:rPr lang="ko-KR" altLang="en-US" dirty="0"/>
              <a:t>제공된 테스트 케이스</a:t>
            </a:r>
            <a:r>
              <a:rPr lang="en-US" altLang="ko-KR" dirty="0"/>
              <a:t>(tc1, tc2)</a:t>
            </a:r>
            <a:r>
              <a:rPr lang="ko-KR" altLang="en-US" dirty="0"/>
              <a:t>가 재현되지 않음</a:t>
            </a:r>
            <a:endParaRPr lang="en-US" altLang="ko-KR" dirty="0"/>
          </a:p>
          <a:p>
            <a:pPr lvl="4"/>
            <a:r>
              <a:rPr lang="en-US" altLang="ko-KR" dirty="0"/>
              <a:t>tc1 </a:t>
            </a:r>
            <a:r>
              <a:rPr lang="ko-KR" altLang="en-US" dirty="0"/>
              <a:t>실행은 되지만 </a:t>
            </a:r>
            <a:r>
              <a:rPr lang="en-US" altLang="ko-KR" b="1" dirty="0"/>
              <a:t>accuracy </a:t>
            </a:r>
            <a:r>
              <a:rPr lang="ko-KR" altLang="en-US" b="1" dirty="0"/>
              <a:t>부정확</a:t>
            </a:r>
            <a:r>
              <a:rPr lang="en-US" altLang="ko-KR" dirty="0"/>
              <a:t>.</a:t>
            </a:r>
          </a:p>
          <a:p>
            <a:pPr lvl="4"/>
            <a:r>
              <a:rPr lang="en-US" altLang="ko-KR" dirty="0"/>
              <a:t>tc2 1</a:t>
            </a:r>
            <a:r>
              <a:rPr lang="ko-KR" altLang="en-US" dirty="0"/>
              <a:t>개의 </a:t>
            </a:r>
            <a:r>
              <a:rPr lang="en-US" altLang="ko-KR" dirty="0" err="1"/>
              <a:t>gpu</a:t>
            </a:r>
            <a:r>
              <a:rPr lang="ko-KR" altLang="en-US" dirty="0"/>
              <a:t>에서 실행 안됨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pPr lvl="2"/>
            <a:r>
              <a:rPr lang="en-US" altLang="ko-KR" dirty="0"/>
              <a:t>Popcorn </a:t>
            </a:r>
            <a:r>
              <a:rPr lang="ko-KR" altLang="en-US" dirty="0"/>
              <a:t>버전</a:t>
            </a:r>
            <a:endParaRPr lang="en-US" altLang="ko-KR" dirty="0"/>
          </a:p>
          <a:p>
            <a:pPr lvl="3"/>
            <a:r>
              <a:rPr lang="ko-KR" altLang="en-US" b="1" dirty="0"/>
              <a:t>공개된 코드에서 메모리 관리가 제대로 되지 않아 </a:t>
            </a:r>
            <a:r>
              <a:rPr lang="en-US" altLang="ko-KR" b="1" dirty="0"/>
              <a:t>fail. </a:t>
            </a:r>
          </a:p>
          <a:p>
            <a:pPr lvl="4"/>
            <a:r>
              <a:rPr lang="ko-KR" altLang="en-US" b="1" dirty="0"/>
              <a:t>디버깅 시도했으나 상당한 시간 소요</a:t>
            </a:r>
            <a:r>
              <a:rPr lang="en-US" altLang="ko-KR" b="1" dirty="0"/>
              <a:t>.</a:t>
            </a:r>
          </a:p>
          <a:p>
            <a:pPr lvl="4"/>
            <a:endParaRPr lang="en-US" altLang="ko-KR" b="1" dirty="0"/>
          </a:p>
          <a:p>
            <a:pPr lvl="3"/>
            <a:r>
              <a:rPr lang="ko-KR" altLang="en-US" dirty="0"/>
              <a:t>일부 코드가 완전히 구현되지 않은 것으로 보이며</a:t>
            </a:r>
            <a:r>
              <a:rPr lang="en-US" altLang="ko-KR" dirty="0"/>
              <a:t>, </a:t>
            </a:r>
            <a:r>
              <a:rPr lang="ko-KR" altLang="en-US" dirty="0"/>
              <a:t>이로 인해 재현이 어려움</a:t>
            </a:r>
            <a:r>
              <a:rPr lang="en-US" altLang="ko-KR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5DBCA4-8400-41E6-A2C7-A5158E70E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998" y="874667"/>
            <a:ext cx="2949576" cy="368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0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C907A0-CEC3-4964-9D42-5CCFFD30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78784"/>
            <a:ext cx="10515599" cy="540785"/>
          </a:xfrm>
        </p:spPr>
        <p:txBody>
          <a:bodyPr/>
          <a:lstStyle/>
          <a:p>
            <a:pPr algn="ctr"/>
            <a:r>
              <a:rPr lang="en-US" altLang="ko-KR" dirty="0"/>
              <a:t>End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5981690"/>
      </p:ext>
    </p:extLst>
  </p:cSld>
  <p:clrMapOvr>
    <a:masterClrMapping/>
  </p:clrMapOvr>
</p:sld>
</file>

<file path=ppt/theme/theme1.xml><?xml version="1.0" encoding="utf-8"?>
<a:theme xmlns:a="http://schemas.openxmlformats.org/drawingml/2006/main" name="테마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테마3" id="{B8773688-9A3A-224D-89CA-8C51D664ED7A}" vid="{F96EC248-E0B5-974F-B9EA-6EA148F9026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5393</TotalTime>
  <Words>1589</Words>
  <Application>Microsoft Office PowerPoint</Application>
  <PresentationFormat>Widescreen</PresentationFormat>
  <Paragraphs>248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Google Sans Text</vt:lpstr>
      <vt:lpstr>Korail Round Gothic Medium</vt:lpstr>
      <vt:lpstr>Arial</vt:lpstr>
      <vt:lpstr>Calibri</vt:lpstr>
      <vt:lpstr>테마3</vt:lpstr>
      <vt:lpstr>Parallel k-means clustering</vt:lpstr>
      <vt:lpstr>K-means clustering</vt:lpstr>
      <vt:lpstr>Dataset</vt:lpstr>
      <vt:lpstr>BaseLine</vt:lpstr>
      <vt:lpstr>Flow - Naive</vt:lpstr>
      <vt:lpstr>Key design ideas</vt:lpstr>
      <vt:lpstr>Implementation</vt:lpstr>
      <vt:lpstr>Implementation</vt:lpstr>
      <vt:lpstr>Implementation</vt:lpstr>
      <vt:lpstr>Implementation</vt:lpstr>
      <vt:lpstr>Implementation</vt:lpstr>
      <vt:lpstr>Experiment result</vt:lpstr>
      <vt:lpstr>Experiment result</vt:lpstr>
      <vt:lpstr>Limitation</vt:lpstr>
      <vt:lpstr>Conclusion</vt:lpstr>
      <vt:lpstr>Reference Reproduce  Popcorn : Accelerating Kernel K-means on GPUs through Sparse Linear Algebra</vt:lpstr>
      <vt:lpstr>Popcorn Reproduce</vt:lpstr>
      <vt:lpstr>Popcorn Reproduce</vt:lpstr>
      <vt:lpstr>Popcorn Reproduce</vt:lpstr>
      <vt:lpstr>Popcorn Reproduce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박대영</dc:creator>
  <cp:lastModifiedBy>김민수</cp:lastModifiedBy>
  <cp:revision>1156</cp:revision>
  <cp:lastPrinted>2025-12-14T10:58:12Z</cp:lastPrinted>
  <dcterms:created xsi:type="dcterms:W3CDTF">2024-03-05T01:02:11Z</dcterms:created>
  <dcterms:modified xsi:type="dcterms:W3CDTF">2025-12-14T14:23:14Z</dcterms:modified>
</cp:coreProperties>
</file>